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803" r:id="rId2"/>
    <p:sldId id="833" r:id="rId3"/>
    <p:sldId id="824" r:id="rId4"/>
    <p:sldId id="828" r:id="rId5"/>
    <p:sldId id="805" r:id="rId6"/>
    <p:sldId id="829" r:id="rId7"/>
    <p:sldId id="836" r:id="rId8"/>
    <p:sldId id="832" r:id="rId9"/>
    <p:sldId id="830" r:id="rId10"/>
    <p:sldId id="831" r:id="rId11"/>
    <p:sldId id="83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86" autoAdjust="0"/>
    <p:restoredTop sz="94660"/>
  </p:normalViewPr>
  <p:slideViewPr>
    <p:cSldViewPr snapToGrid="0">
      <p:cViewPr varScale="1">
        <p:scale>
          <a:sx n="78" d="100"/>
          <a:sy n="78" d="100"/>
        </p:scale>
        <p:origin x="648" y="6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50" d="100"/>
          <a:sy n="150" d="100"/>
        </p:scale>
        <p:origin x="432" y="-14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84CAE8-38D5-461C-80C4-1AF2B758DADD}" type="datetimeFigureOut">
              <a:rPr lang="en-IN" smtClean="0"/>
              <a:t>25-03-2026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8D782-C295-45AF-8CC4-5EB981288A9F}" type="slidenum">
              <a:rPr lang="en-IN" smtClean="0"/>
              <a:t>‹#›</a:t>
            </a:fld>
            <a:endParaRPr lang="en-IN"/>
          </a:p>
        </p:txBody>
      </p:sp>
    </p:spTree>
    <p:extLst>
      <p:ext uri="{BB962C8B-B14F-4D97-AF65-F5344CB8AC3E}">
        <p14:creationId xmlns:p14="http://schemas.microsoft.com/office/powerpoint/2010/main" val="226258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ABD5BB5-C395-2DF8-D539-36737393B670}"/>
            </a:ext>
          </a:extLst>
        </p:cNvPr>
        <p:cNvGrpSpPr/>
        <p:nvPr/>
      </p:nvGrpSpPr>
      <p:grpSpPr>
        <a:xfrm>
          <a:off x="0" y="0"/>
          <a:ext cx="0" cy="0"/>
          <a:chOff x="0" y="0"/>
          <a:chExt cx="0" cy="0"/>
        </a:xfrm>
      </p:grpSpPr>
      <p:sp>
        <p:nvSpPr>
          <p:cNvPr id="102" name="Google Shape;102;p1:notes">
            <a:extLst>
              <a:ext uri="{FF2B5EF4-FFF2-40B4-BE49-F238E27FC236}">
                <a16:creationId xmlns:a16="http://schemas.microsoft.com/office/drawing/2014/main" id="{72FFC9B4-4278-A514-C0A7-72EAAC723E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103" name="Google Shape;103;p1:notes">
            <a:extLst>
              <a:ext uri="{FF2B5EF4-FFF2-40B4-BE49-F238E27FC236}">
                <a16:creationId xmlns:a16="http://schemas.microsoft.com/office/drawing/2014/main" id="{C8FFAD72-5149-46B7-A20E-DF4F96DE0E8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notes">
            <a:extLst>
              <a:ext uri="{FF2B5EF4-FFF2-40B4-BE49-F238E27FC236}">
                <a16:creationId xmlns:a16="http://schemas.microsoft.com/office/drawing/2014/main" id="{A97F5C20-8BAD-CE9B-4D38-1CF55F7253B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1</a:t>
            </a:fld>
            <a:endParaRPr kumimoji="0" sz="12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42416850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AFF4B-C04A-07B0-094D-86746B3EFF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11CDF-21A0-9FEC-2F88-3F16669D64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88E9D5F-C289-EA26-CF8B-CB52EFE4BF14}"/>
              </a:ext>
            </a:extLst>
          </p:cNvPr>
          <p:cNvSpPr>
            <a:spLocks noGrp="1"/>
          </p:cNvSpPr>
          <p:nvPr>
            <p:ph type="body" idx="1"/>
          </p:nvPr>
        </p:nvSpPr>
        <p:spPr/>
        <p:txBody>
          <a:bodyPr/>
          <a:lstStyle/>
          <a:p>
            <a:r>
              <a:rPr lang="en-IN" dirty="0"/>
              <a:t>Talk about how they are managing their documents, how google docs does automatic versioning</a:t>
            </a:r>
          </a:p>
          <a:p>
            <a:endParaRPr lang="en-IN" dirty="0"/>
          </a:p>
          <a:p>
            <a:r>
              <a:rPr lang="en-IN" dirty="0"/>
              <a:t>As them what they know  about Android and </a:t>
            </a:r>
            <a:r>
              <a:rPr lang="en-IN" dirty="0" err="1"/>
              <a:t>IoS</a:t>
            </a:r>
            <a:r>
              <a:rPr lang="en-IN" dirty="0"/>
              <a:t> versions </a:t>
            </a:r>
          </a:p>
        </p:txBody>
      </p:sp>
      <p:sp>
        <p:nvSpPr>
          <p:cNvPr id="4" name="Slide Number Placeholder 3">
            <a:extLst>
              <a:ext uri="{FF2B5EF4-FFF2-40B4-BE49-F238E27FC236}">
                <a16:creationId xmlns:a16="http://schemas.microsoft.com/office/drawing/2014/main" id="{D317C9EC-3730-8AE2-FDAB-25DFF0B1E5DD}"/>
              </a:ext>
            </a:extLst>
          </p:cNvPr>
          <p:cNvSpPr>
            <a:spLocks noGrp="1"/>
          </p:cNvSpPr>
          <p:nvPr>
            <p:ph type="sldNum" sz="quarter" idx="5"/>
          </p:nvPr>
        </p:nvSpPr>
        <p:spPr/>
        <p:txBody>
          <a:bodyPr/>
          <a:lstStyle/>
          <a:p>
            <a:fld id="{D188D782-C295-45AF-8CC4-5EB981288A9F}" type="slidenum">
              <a:rPr lang="en-IN" smtClean="0"/>
              <a:t>2</a:t>
            </a:fld>
            <a:endParaRPr lang="en-IN"/>
          </a:p>
        </p:txBody>
      </p:sp>
    </p:spTree>
    <p:extLst>
      <p:ext uri="{BB962C8B-B14F-4D97-AF65-F5344CB8AC3E}">
        <p14:creationId xmlns:p14="http://schemas.microsoft.com/office/powerpoint/2010/main" val="20852128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Talk about how they are managing their documents, how google docs does automatic versioning</a:t>
            </a:r>
          </a:p>
          <a:p>
            <a:endParaRPr lang="en-IN" dirty="0"/>
          </a:p>
          <a:p>
            <a:r>
              <a:rPr lang="en-IN" dirty="0"/>
              <a:t>As them what they know  about Android and </a:t>
            </a:r>
            <a:r>
              <a:rPr lang="en-IN" dirty="0" err="1"/>
              <a:t>IoS</a:t>
            </a:r>
            <a:r>
              <a:rPr lang="en-IN" dirty="0"/>
              <a:t> versions </a:t>
            </a:r>
          </a:p>
        </p:txBody>
      </p:sp>
      <p:sp>
        <p:nvSpPr>
          <p:cNvPr id="4" name="Slide Number Placeholder 3"/>
          <p:cNvSpPr>
            <a:spLocks noGrp="1"/>
          </p:cNvSpPr>
          <p:nvPr>
            <p:ph type="sldNum" sz="quarter" idx="5"/>
          </p:nvPr>
        </p:nvSpPr>
        <p:spPr/>
        <p:txBody>
          <a:bodyPr/>
          <a:lstStyle/>
          <a:p>
            <a:fld id="{D188D782-C295-45AF-8CC4-5EB981288A9F}" type="slidenum">
              <a:rPr lang="en-IN" smtClean="0"/>
              <a:t>3</a:t>
            </a:fld>
            <a:endParaRPr lang="en-IN"/>
          </a:p>
        </p:txBody>
      </p:sp>
    </p:spTree>
    <p:extLst>
      <p:ext uri="{BB962C8B-B14F-4D97-AF65-F5344CB8AC3E}">
        <p14:creationId xmlns:p14="http://schemas.microsoft.com/office/powerpoint/2010/main" val="1291075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790FE-2DE2-387C-625F-AACE3FD7F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00BB5F-7193-254E-6D58-C49599CA314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682A11E-0DFC-17FB-02F1-F2832FBB449F}"/>
              </a:ext>
            </a:extLst>
          </p:cNvPr>
          <p:cNvSpPr>
            <a:spLocks noGrp="1"/>
          </p:cNvSpPr>
          <p:nvPr>
            <p:ph type="body" idx="1"/>
          </p:nvPr>
        </p:nvSpPr>
        <p:spPr/>
        <p:txBody>
          <a:bodyPr/>
          <a:lstStyle/>
          <a:p>
            <a:r>
              <a:rPr lang="en-IN" dirty="0"/>
              <a:t>Talk about how they are managing their documents, how google docs does automatic versioning</a:t>
            </a:r>
          </a:p>
          <a:p>
            <a:endParaRPr lang="en-IN" dirty="0"/>
          </a:p>
          <a:p>
            <a:r>
              <a:rPr lang="en-IN" dirty="0"/>
              <a:t>As them what they know  about Android and </a:t>
            </a:r>
            <a:r>
              <a:rPr lang="en-IN" dirty="0" err="1"/>
              <a:t>IoS</a:t>
            </a:r>
            <a:r>
              <a:rPr lang="en-IN" dirty="0"/>
              <a:t> versions </a:t>
            </a:r>
          </a:p>
        </p:txBody>
      </p:sp>
      <p:sp>
        <p:nvSpPr>
          <p:cNvPr id="4" name="Slide Number Placeholder 3">
            <a:extLst>
              <a:ext uri="{FF2B5EF4-FFF2-40B4-BE49-F238E27FC236}">
                <a16:creationId xmlns:a16="http://schemas.microsoft.com/office/drawing/2014/main" id="{BD0B4184-A693-CBEB-6603-80242D92BF4A}"/>
              </a:ext>
            </a:extLst>
          </p:cNvPr>
          <p:cNvSpPr>
            <a:spLocks noGrp="1"/>
          </p:cNvSpPr>
          <p:nvPr>
            <p:ph type="sldNum" sz="quarter" idx="5"/>
          </p:nvPr>
        </p:nvSpPr>
        <p:spPr/>
        <p:txBody>
          <a:bodyPr/>
          <a:lstStyle/>
          <a:p>
            <a:fld id="{D188D782-C295-45AF-8CC4-5EB981288A9F}" type="slidenum">
              <a:rPr lang="en-IN" smtClean="0"/>
              <a:t>4</a:t>
            </a:fld>
            <a:endParaRPr lang="en-IN"/>
          </a:p>
        </p:txBody>
      </p:sp>
    </p:spTree>
    <p:extLst>
      <p:ext uri="{BB962C8B-B14F-4D97-AF65-F5344CB8AC3E}">
        <p14:creationId xmlns:p14="http://schemas.microsoft.com/office/powerpoint/2010/main" val="3607392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p:cNvSpPr>
            <a:spLocks noGrp="1"/>
          </p:cNvSpPr>
          <p:nvPr>
            <p:ph type="sldNum" sz="quarter" idx="5"/>
          </p:nvPr>
        </p:nvSpPr>
        <p:spPr/>
        <p:txBody>
          <a:bodyPr/>
          <a:lstStyle/>
          <a:p>
            <a:fld id="{D188D782-C295-45AF-8CC4-5EB981288A9F}" type="slidenum">
              <a:rPr lang="en-IN" smtClean="0"/>
              <a:t>5</a:t>
            </a:fld>
            <a:endParaRPr lang="en-IN"/>
          </a:p>
        </p:txBody>
      </p:sp>
    </p:spTree>
    <p:extLst>
      <p:ext uri="{BB962C8B-B14F-4D97-AF65-F5344CB8AC3E}">
        <p14:creationId xmlns:p14="http://schemas.microsoft.com/office/powerpoint/2010/main" val="1563593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5F895-5022-38DA-2054-0C369F380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C18D03-72B5-B7EA-E56D-FEE96073D3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3B98BE-F9C6-D5BF-E732-2895FF121AB5}"/>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78D7E643-4F9A-B030-FD04-51F4A8BA2648}"/>
              </a:ext>
            </a:extLst>
          </p:cNvPr>
          <p:cNvSpPr>
            <a:spLocks noGrp="1"/>
          </p:cNvSpPr>
          <p:nvPr>
            <p:ph type="sldNum" sz="quarter" idx="5"/>
          </p:nvPr>
        </p:nvSpPr>
        <p:spPr/>
        <p:txBody>
          <a:bodyPr/>
          <a:lstStyle/>
          <a:p>
            <a:fld id="{D188D782-C295-45AF-8CC4-5EB981288A9F}" type="slidenum">
              <a:rPr lang="en-IN" smtClean="0"/>
              <a:t>6</a:t>
            </a:fld>
            <a:endParaRPr lang="en-IN"/>
          </a:p>
        </p:txBody>
      </p:sp>
    </p:spTree>
    <p:extLst>
      <p:ext uri="{BB962C8B-B14F-4D97-AF65-F5344CB8AC3E}">
        <p14:creationId xmlns:p14="http://schemas.microsoft.com/office/powerpoint/2010/main" val="1612106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3B15F-644F-5DCC-0064-AC5EBA8E4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A138D-ED13-3D4B-36AE-A311EEE5CE4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39DB1C5-AF69-7A4D-058C-EF14FDD59FB4}"/>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60AADAA4-40AC-59BD-27EF-2532086882FD}"/>
              </a:ext>
            </a:extLst>
          </p:cNvPr>
          <p:cNvSpPr>
            <a:spLocks noGrp="1"/>
          </p:cNvSpPr>
          <p:nvPr>
            <p:ph type="sldNum" sz="quarter" idx="5"/>
          </p:nvPr>
        </p:nvSpPr>
        <p:spPr/>
        <p:txBody>
          <a:bodyPr/>
          <a:lstStyle/>
          <a:p>
            <a:fld id="{D188D782-C295-45AF-8CC4-5EB981288A9F}" type="slidenum">
              <a:rPr lang="en-IN" smtClean="0"/>
              <a:t>7</a:t>
            </a:fld>
            <a:endParaRPr lang="en-IN"/>
          </a:p>
        </p:txBody>
      </p:sp>
    </p:spTree>
    <p:extLst>
      <p:ext uri="{BB962C8B-B14F-4D97-AF65-F5344CB8AC3E}">
        <p14:creationId xmlns:p14="http://schemas.microsoft.com/office/powerpoint/2010/main" val="957026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BB7A1-F227-707B-7BDC-D8504321C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22DB9F-8180-6707-CF03-AF31797831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4906CB4-CBD8-AEBB-903A-0350DDF74BED}"/>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77B16E92-3E9E-2C9C-DCEB-A027251CFED9}"/>
              </a:ext>
            </a:extLst>
          </p:cNvPr>
          <p:cNvSpPr>
            <a:spLocks noGrp="1"/>
          </p:cNvSpPr>
          <p:nvPr>
            <p:ph type="sldNum" sz="quarter" idx="5"/>
          </p:nvPr>
        </p:nvSpPr>
        <p:spPr/>
        <p:txBody>
          <a:bodyPr/>
          <a:lstStyle/>
          <a:p>
            <a:fld id="{D188D782-C295-45AF-8CC4-5EB981288A9F}" type="slidenum">
              <a:rPr lang="en-IN" smtClean="0"/>
              <a:t>8</a:t>
            </a:fld>
            <a:endParaRPr lang="en-IN"/>
          </a:p>
        </p:txBody>
      </p:sp>
    </p:spTree>
    <p:extLst>
      <p:ext uri="{BB962C8B-B14F-4D97-AF65-F5344CB8AC3E}">
        <p14:creationId xmlns:p14="http://schemas.microsoft.com/office/powerpoint/2010/main" val="1956087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2D362-4CC2-1D7D-5B37-272761D9F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1E08CF-FFD7-C7F1-F7C9-8C0198C9EF6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3E2D4EC-36D9-9636-CD33-D59AAB049B84}"/>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540B67E4-279A-3BB1-BEE4-9C8B181D0A7F}"/>
              </a:ext>
            </a:extLst>
          </p:cNvPr>
          <p:cNvSpPr>
            <a:spLocks noGrp="1"/>
          </p:cNvSpPr>
          <p:nvPr>
            <p:ph type="sldNum" sz="quarter" idx="5"/>
          </p:nvPr>
        </p:nvSpPr>
        <p:spPr/>
        <p:txBody>
          <a:bodyPr/>
          <a:lstStyle/>
          <a:p>
            <a:fld id="{D188D782-C295-45AF-8CC4-5EB981288A9F}" type="slidenum">
              <a:rPr lang="en-IN" smtClean="0"/>
              <a:t>9</a:t>
            </a:fld>
            <a:endParaRPr lang="en-IN"/>
          </a:p>
        </p:txBody>
      </p:sp>
    </p:spTree>
    <p:extLst>
      <p:ext uri="{BB962C8B-B14F-4D97-AF65-F5344CB8AC3E}">
        <p14:creationId xmlns:p14="http://schemas.microsoft.com/office/powerpoint/2010/main" val="4216196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086D0-C302-35A2-A260-3CDD14B6E4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C58981-14D0-7908-694C-4FDB3C4F9DD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164AD2F-6AE3-A62A-2AF4-C18F91CE5AEB}"/>
              </a:ext>
            </a:extLst>
          </p:cNvPr>
          <p:cNvSpPr>
            <a:spLocks noGrp="1"/>
          </p:cNvSpPr>
          <p:nvPr>
            <p:ph type="body" idx="1"/>
          </p:nvPr>
        </p:nvSpPr>
        <p:spPr/>
        <p:txBody>
          <a:bodyPr/>
          <a:lstStyle/>
          <a:p>
            <a:r>
              <a:rPr lang="en-IN" dirty="0"/>
              <a:t>Only stress on the 1</a:t>
            </a:r>
            <a:r>
              <a:rPr lang="en-IN" baseline="30000" dirty="0"/>
              <a:t>st</a:t>
            </a:r>
            <a:r>
              <a:rPr lang="en-IN" dirty="0"/>
              <a:t> sentence – the definition</a:t>
            </a:r>
          </a:p>
          <a:p>
            <a:endParaRPr lang="en-IN" dirty="0"/>
          </a:p>
          <a:p>
            <a:r>
              <a:rPr lang="en-IN" dirty="0"/>
              <a:t>Come back to the 2</a:t>
            </a:r>
            <a:r>
              <a:rPr lang="en-IN" baseline="30000" dirty="0"/>
              <a:t>nd</a:t>
            </a:r>
            <a:r>
              <a:rPr lang="en-IN" dirty="0"/>
              <a:t> sentence in the end as part of revision</a:t>
            </a:r>
          </a:p>
        </p:txBody>
      </p:sp>
      <p:sp>
        <p:nvSpPr>
          <p:cNvPr id="4" name="Slide Number Placeholder 3">
            <a:extLst>
              <a:ext uri="{FF2B5EF4-FFF2-40B4-BE49-F238E27FC236}">
                <a16:creationId xmlns:a16="http://schemas.microsoft.com/office/drawing/2014/main" id="{44B14A88-FC08-9C8A-7686-6A2CB491B6DC}"/>
              </a:ext>
            </a:extLst>
          </p:cNvPr>
          <p:cNvSpPr>
            <a:spLocks noGrp="1"/>
          </p:cNvSpPr>
          <p:nvPr>
            <p:ph type="sldNum" sz="quarter" idx="5"/>
          </p:nvPr>
        </p:nvSpPr>
        <p:spPr/>
        <p:txBody>
          <a:bodyPr/>
          <a:lstStyle/>
          <a:p>
            <a:fld id="{D188D782-C295-45AF-8CC4-5EB981288A9F}" type="slidenum">
              <a:rPr lang="en-IN" smtClean="0"/>
              <a:t>10</a:t>
            </a:fld>
            <a:endParaRPr lang="en-IN"/>
          </a:p>
        </p:txBody>
      </p:sp>
    </p:spTree>
    <p:extLst>
      <p:ext uri="{BB962C8B-B14F-4D97-AF65-F5344CB8AC3E}">
        <p14:creationId xmlns:p14="http://schemas.microsoft.com/office/powerpoint/2010/main" val="249920341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White">
  <p:cSld name="Cover White">
    <p:spTree>
      <p:nvGrpSpPr>
        <p:cNvPr id="1" name="Shape 15"/>
        <p:cNvGrpSpPr/>
        <p:nvPr/>
      </p:nvGrpSpPr>
      <p:grpSpPr>
        <a:xfrm>
          <a:off x="0" y="0"/>
          <a:ext cx="0" cy="0"/>
          <a:chOff x="0" y="0"/>
          <a:chExt cx="0" cy="0"/>
        </a:xfrm>
      </p:grpSpPr>
      <p:pic>
        <p:nvPicPr>
          <p:cNvPr id="16" name="Google Shape;16;p2" descr="C:\Users\Admin\Downloads\ilovepdf_pages-to-jpg (1)\RU_PPT Template-White Blank_page-0001.jpg"/>
          <p:cNvPicPr preferRelativeResize="0"/>
          <p:nvPr/>
        </p:nvPicPr>
        <p:blipFill rotWithShape="1">
          <a:blip r:embed="rId2">
            <a:alphaModFix/>
          </a:blip>
          <a:srcRect/>
          <a:stretch/>
        </p:blipFill>
        <p:spPr>
          <a:xfrm>
            <a:off x="-1" y="0"/>
            <a:ext cx="12193191" cy="6858000"/>
          </a:xfrm>
          <a:prstGeom prst="rect">
            <a:avLst/>
          </a:prstGeom>
          <a:noFill/>
          <a:ln>
            <a:noFill/>
          </a:ln>
        </p:spPr>
      </p:pic>
      <p:sp>
        <p:nvSpPr>
          <p:cNvPr id="17" name="Google Shape;17;p2"/>
          <p:cNvSpPr/>
          <p:nvPr/>
        </p:nvSpPr>
        <p:spPr>
          <a:xfrm>
            <a:off x="685800" y="5880100"/>
            <a:ext cx="3422650" cy="977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Arial"/>
              <a:ea typeface="Arial"/>
              <a:cs typeface="Arial"/>
              <a:sym typeface="Arial"/>
            </a:endParaRPr>
          </a:p>
        </p:txBody>
      </p:sp>
      <p:sp>
        <p:nvSpPr>
          <p:cNvPr id="18" name="Google Shape;18;p2"/>
          <p:cNvSpPr/>
          <p:nvPr/>
        </p:nvSpPr>
        <p:spPr>
          <a:xfrm>
            <a:off x="8769350" y="5486400"/>
            <a:ext cx="3422650" cy="9779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b="0" i="0" u="none" strike="noStrike" cap="none">
              <a:solidFill>
                <a:schemeClr val="lt1"/>
              </a:solidFill>
              <a:latin typeface="Arial"/>
              <a:ea typeface="Arial"/>
              <a:cs typeface="Arial"/>
              <a:sym typeface="Arial"/>
            </a:endParaRPr>
          </a:p>
        </p:txBody>
      </p:sp>
      <p:grpSp>
        <p:nvGrpSpPr>
          <p:cNvPr id="19" name="Google Shape;19;p2"/>
          <p:cNvGrpSpPr/>
          <p:nvPr/>
        </p:nvGrpSpPr>
        <p:grpSpPr>
          <a:xfrm>
            <a:off x="9220200" y="5410200"/>
            <a:ext cx="2601503" cy="1082742"/>
            <a:chOff x="10616154" y="97913"/>
            <a:chExt cx="3619726" cy="1349912"/>
          </a:xfrm>
        </p:grpSpPr>
        <p:pic>
          <p:nvPicPr>
            <p:cNvPr id="20" name="Google Shape;20;p2" descr="NIRF — SAVEETHA SCHOOL OF MANAGEMENT"/>
            <p:cNvPicPr preferRelativeResize="0"/>
            <p:nvPr/>
          </p:nvPicPr>
          <p:blipFill rotWithShape="1">
            <a:blip r:embed="rId3">
              <a:alphaModFix/>
            </a:blip>
            <a:srcRect l="27517" t="4377" r="28920" b="7151"/>
            <a:stretch/>
          </p:blipFill>
          <p:spPr>
            <a:xfrm>
              <a:off x="12122688" y="97913"/>
              <a:ext cx="843474" cy="592257"/>
            </a:xfrm>
            <a:prstGeom prst="rect">
              <a:avLst/>
            </a:prstGeom>
            <a:noFill/>
            <a:ln>
              <a:noFill/>
            </a:ln>
          </p:spPr>
        </p:pic>
        <p:pic>
          <p:nvPicPr>
            <p:cNvPr id="21" name="Google Shape;21;p2" descr="Bharath University - Top University In India"/>
            <p:cNvPicPr preferRelativeResize="0"/>
            <p:nvPr/>
          </p:nvPicPr>
          <p:blipFill rotWithShape="1">
            <a:blip r:embed="rId4">
              <a:alphaModFix/>
            </a:blip>
            <a:srcRect/>
            <a:stretch/>
          </p:blipFill>
          <p:spPr>
            <a:xfrm>
              <a:off x="10737939" y="182966"/>
              <a:ext cx="1158298" cy="430887"/>
            </a:xfrm>
            <a:prstGeom prst="rect">
              <a:avLst/>
            </a:prstGeom>
            <a:noFill/>
            <a:ln>
              <a:noFill/>
            </a:ln>
          </p:spPr>
        </p:pic>
        <p:pic>
          <p:nvPicPr>
            <p:cNvPr id="22" name="Google Shape;22;p2" descr="CREDISAPP for Ratings - Eloit"/>
            <p:cNvPicPr preferRelativeResize="0"/>
            <p:nvPr/>
          </p:nvPicPr>
          <p:blipFill rotWithShape="1">
            <a:blip r:embed="rId5">
              <a:alphaModFix/>
            </a:blip>
            <a:srcRect/>
            <a:stretch/>
          </p:blipFill>
          <p:spPr>
            <a:xfrm>
              <a:off x="13072901" y="114292"/>
              <a:ext cx="1155067" cy="575878"/>
            </a:xfrm>
            <a:prstGeom prst="rect">
              <a:avLst/>
            </a:prstGeom>
            <a:noFill/>
            <a:ln>
              <a:noFill/>
            </a:ln>
          </p:spPr>
        </p:pic>
        <p:pic>
          <p:nvPicPr>
            <p:cNvPr id="23" name="Google Shape;23;p2" descr="MHRD | Innovation Cell - Home"/>
            <p:cNvPicPr preferRelativeResize="0"/>
            <p:nvPr/>
          </p:nvPicPr>
          <p:blipFill rotWithShape="1">
            <a:blip r:embed="rId6">
              <a:alphaModFix/>
            </a:blip>
            <a:srcRect/>
            <a:stretch/>
          </p:blipFill>
          <p:spPr>
            <a:xfrm>
              <a:off x="10616154" y="789734"/>
              <a:ext cx="1857797" cy="658091"/>
            </a:xfrm>
            <a:prstGeom prst="rect">
              <a:avLst/>
            </a:prstGeom>
            <a:noFill/>
            <a:ln>
              <a:noFill/>
            </a:ln>
          </p:spPr>
        </p:pic>
        <p:pic>
          <p:nvPicPr>
            <p:cNvPr id="24" name="Google Shape;24;p2" descr="Institution's Innovation Council | MHRD"/>
            <p:cNvPicPr preferRelativeResize="0"/>
            <p:nvPr/>
          </p:nvPicPr>
          <p:blipFill rotWithShape="1">
            <a:blip r:embed="rId7">
              <a:alphaModFix/>
            </a:blip>
            <a:srcRect l="8879" t="20720" r="8879" b="24345"/>
            <a:stretch/>
          </p:blipFill>
          <p:spPr>
            <a:xfrm>
              <a:off x="12886182" y="774201"/>
              <a:ext cx="1349698" cy="637584"/>
            </a:xfrm>
            <a:prstGeom prst="rect">
              <a:avLst/>
            </a:prstGeom>
            <a:noFill/>
            <a:ln>
              <a:noFill/>
            </a:ln>
          </p:spPr>
        </p:pic>
      </p:grpSp>
      <p:sp>
        <p:nvSpPr>
          <p:cNvPr id="25" name="Google Shape;25;p2"/>
          <p:cNvSpPr txBox="1">
            <a:spLocks noGrp="1"/>
          </p:cNvSpPr>
          <p:nvPr>
            <p:ph type="title"/>
          </p:nvPr>
        </p:nvSpPr>
        <p:spPr>
          <a:xfrm>
            <a:off x="1058553" y="3124200"/>
            <a:ext cx="8421823" cy="1750095"/>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rgbClr val="FF6600"/>
              </a:buClr>
              <a:buSzPts val="4000"/>
              <a:buFont typeface="Roboto Medium"/>
              <a:buNone/>
              <a:defRPr sz="4000" b="0" i="0" u="none" strike="noStrike" cap="none">
                <a:solidFill>
                  <a:srgbClr val="FF6600"/>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2"/>
          <p:cNvSpPr txBox="1">
            <a:spLocks noGrp="1"/>
          </p:cNvSpPr>
          <p:nvPr>
            <p:ph type="body" idx="1"/>
          </p:nvPr>
        </p:nvSpPr>
        <p:spPr>
          <a:xfrm>
            <a:off x="1046572" y="5129788"/>
            <a:ext cx="6755716" cy="407987"/>
          </a:xfrm>
          <a:prstGeom prst="rect">
            <a:avLst/>
          </a:prstGeom>
          <a:noFill/>
          <a:ln>
            <a:noFill/>
          </a:ln>
        </p:spPr>
        <p:txBody>
          <a:bodyPr spcFirstLastPara="1" wrap="square" lIns="91425" tIns="45700" rIns="91425" bIns="45700" anchor="ctr" anchorCtr="0">
            <a:noAutofit/>
          </a:bodyPr>
          <a:lstStyle>
            <a:lvl1pPr marL="457200" marR="0" lvl="0" indent="-228600" algn="l">
              <a:lnSpc>
                <a:spcPct val="100000"/>
              </a:lnSpc>
              <a:spcBef>
                <a:spcPts val="0"/>
              </a:spcBef>
              <a:spcAft>
                <a:spcPts val="0"/>
              </a:spcAft>
              <a:buClr>
                <a:srgbClr val="FF6600"/>
              </a:buClr>
              <a:buSzPts val="2500"/>
              <a:buFont typeface="Arial"/>
              <a:buNone/>
              <a:defRPr sz="2500" b="0" i="0" u="none" strike="noStrike" cap="none">
                <a:solidFill>
                  <a:srgbClr val="FF6600"/>
                </a:solidFill>
                <a:latin typeface="Roboto Medium"/>
                <a:ea typeface="Roboto Medium"/>
                <a:cs typeface="Roboto Medium"/>
                <a:sym typeface="Roboto Medium"/>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621859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White">
  <p:cSld name="Agenda White">
    <p:bg>
      <p:bgPr>
        <a:solidFill>
          <a:schemeClr val="lt1"/>
        </a:solidFill>
        <a:effectLst/>
      </p:bgPr>
    </p:bg>
    <p:spTree>
      <p:nvGrpSpPr>
        <p:cNvPr id="1" name="Shape 27"/>
        <p:cNvGrpSpPr/>
        <p:nvPr/>
      </p:nvGrpSpPr>
      <p:grpSpPr>
        <a:xfrm>
          <a:off x="0" y="0"/>
          <a:ext cx="0" cy="0"/>
          <a:chOff x="0" y="0"/>
          <a:chExt cx="0" cy="0"/>
        </a:xfrm>
      </p:grpSpPr>
      <p:pic>
        <p:nvPicPr>
          <p:cNvPr id="28" name="Google Shape;28;p3" descr="C:\Users\Admin\Downloads\ilovepdf_pages-to-jpg (3)\RU_PPT Template-White Blank (1)_page-0003.jpg"/>
          <p:cNvPicPr preferRelativeResize="0"/>
          <p:nvPr/>
        </p:nvPicPr>
        <p:blipFill rotWithShape="1">
          <a:blip r:embed="rId2">
            <a:alphaModFix/>
          </a:blip>
          <a:srcRect/>
          <a:stretch/>
        </p:blipFill>
        <p:spPr>
          <a:xfrm>
            <a:off x="0" y="0"/>
            <a:ext cx="12192000" cy="6857330"/>
          </a:xfrm>
          <a:prstGeom prst="rect">
            <a:avLst/>
          </a:prstGeom>
          <a:noFill/>
          <a:ln>
            <a:noFill/>
          </a:ln>
        </p:spPr>
      </p:pic>
      <p:sp>
        <p:nvSpPr>
          <p:cNvPr id="29" name="Google Shape;29;p3"/>
          <p:cNvSpPr txBox="1">
            <a:spLocks noGrp="1"/>
          </p:cNvSpPr>
          <p:nvPr>
            <p:ph type="sldNum" idx="12"/>
          </p:nvPr>
        </p:nvSpPr>
        <p:spPr>
          <a:xfrm>
            <a:off x="11367146" y="6096000"/>
            <a:ext cx="596254" cy="365125"/>
          </a:xfrm>
          <a:prstGeom prst="rect">
            <a:avLst/>
          </a:prstGeom>
          <a:noFill/>
          <a:ln>
            <a:noFill/>
          </a:ln>
        </p:spPr>
        <p:txBody>
          <a:bodyPr spcFirstLastPara="1" wrap="square" lIns="91425" tIns="45700" rIns="91425" bIns="45700" anchor="ctr" anchorCtr="0">
            <a:noAutofit/>
          </a:bodyPr>
          <a:lstStyle>
            <a:lvl1pPr marL="0" marR="0" lvl="0"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1pPr>
            <a:lvl2pPr marL="0" marR="0" lvl="1"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2pPr>
            <a:lvl3pPr marL="0" marR="0" lvl="2"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3pPr>
            <a:lvl4pPr marL="0" marR="0" lvl="3"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4pPr>
            <a:lvl5pPr marL="0" marR="0" lvl="4"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5pPr>
            <a:lvl6pPr marL="0" marR="0" lvl="5"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6pPr>
            <a:lvl7pPr marL="0" marR="0" lvl="6"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7pPr>
            <a:lvl8pPr marL="0" marR="0" lvl="7"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8pPr>
            <a:lvl9pPr marL="0" marR="0" lvl="8" indent="0" algn="ctr">
              <a:spcBef>
                <a:spcPts val="0"/>
              </a:spcBef>
              <a:spcAft>
                <a:spcPts val="0"/>
              </a:spcAft>
              <a:buClr>
                <a:schemeClr val="dk1"/>
              </a:buClr>
              <a:buSzPts val="1800"/>
              <a:buFont typeface="Roboto Medium"/>
              <a:buNone/>
              <a:defRPr sz="1800" b="0" i="0">
                <a:solidFill>
                  <a:schemeClr val="dk1"/>
                </a:solidFill>
                <a:latin typeface="Roboto Medium"/>
                <a:ea typeface="Roboto Medium"/>
                <a:cs typeface="Roboto Medium"/>
                <a:sym typeface="Roboto Medium"/>
              </a:defRPr>
            </a:lvl9pPr>
          </a:lstStyle>
          <a:p>
            <a:pPr marL="0" lvl="0" indent="0" algn="ctr" rtl="0">
              <a:spcBef>
                <a:spcPts val="0"/>
              </a:spcBef>
              <a:spcAft>
                <a:spcPts val="0"/>
              </a:spcAft>
              <a:buNone/>
            </a:pPr>
            <a:fld id="{00000000-1234-1234-1234-123412341234}" type="slidenum">
              <a:rPr lang="en-US"/>
              <a:t>‹#›</a:t>
            </a:fld>
            <a:endParaRPr/>
          </a:p>
        </p:txBody>
      </p:sp>
      <p:sp>
        <p:nvSpPr>
          <p:cNvPr id="30" name="Google Shape;30;p3"/>
          <p:cNvSpPr txBox="1">
            <a:spLocks noGrp="1"/>
          </p:cNvSpPr>
          <p:nvPr>
            <p:ph type="title"/>
          </p:nvPr>
        </p:nvSpPr>
        <p:spPr>
          <a:xfrm>
            <a:off x="695400" y="395786"/>
            <a:ext cx="6211927" cy="838202"/>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rgbClr val="7F7F7F"/>
              </a:buClr>
              <a:buSzPts val="2800"/>
              <a:buFont typeface="Roboto Medium"/>
              <a:buNone/>
              <a:defRPr sz="2800" b="0" i="0" u="none" strike="noStrike" cap="none">
                <a:solidFill>
                  <a:srgbClr val="7F7F7F"/>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3"/>
          <p:cNvSpPr txBox="1">
            <a:spLocks noGrp="1"/>
          </p:cNvSpPr>
          <p:nvPr>
            <p:ph type="body" idx="1"/>
          </p:nvPr>
        </p:nvSpPr>
        <p:spPr>
          <a:xfrm>
            <a:off x="695400" y="1773936"/>
            <a:ext cx="10801201" cy="4320480"/>
          </a:xfrm>
          <a:prstGeom prst="rect">
            <a:avLst/>
          </a:prstGeom>
          <a:noFill/>
          <a:ln>
            <a:noFill/>
          </a:ln>
        </p:spPr>
        <p:txBody>
          <a:bodyPr spcFirstLastPara="1" wrap="square" lIns="91425" tIns="45700" rIns="91425" bIns="45700" anchor="t" anchorCtr="0">
            <a:noAutofit/>
          </a:bodyPr>
          <a:lstStyle>
            <a:lvl1pPr marL="457200" marR="0" lvl="0" indent="-381000" algn="l">
              <a:lnSpc>
                <a:spcPct val="90000"/>
              </a:lnSpc>
              <a:spcBef>
                <a:spcPts val="0"/>
              </a:spcBef>
              <a:spcAft>
                <a:spcPts val="0"/>
              </a:spcAft>
              <a:buClr>
                <a:srgbClr val="7F7F7F"/>
              </a:buClr>
              <a:buSzPts val="2400"/>
              <a:buFont typeface="Arial"/>
              <a:buAutoNum type="arabicPeriod"/>
              <a:defRPr sz="2400" b="0" i="0" u="none" strike="noStrike" cap="none">
                <a:solidFill>
                  <a:srgbClr val="7F7F7F"/>
                </a:solidFill>
                <a:latin typeface="Roboto Medium"/>
                <a:ea typeface="Roboto Medium"/>
                <a:cs typeface="Roboto Medium"/>
                <a:sym typeface="Roboto Medium"/>
              </a:defRPr>
            </a:lvl1pPr>
            <a:lvl2pPr marL="914400" marR="0" lvl="1" indent="-381000" algn="l">
              <a:lnSpc>
                <a:spcPct val="90000"/>
              </a:lnSpc>
              <a:spcBef>
                <a:spcPts val="1400"/>
              </a:spcBef>
              <a:spcAft>
                <a:spcPts val="0"/>
              </a:spcAft>
              <a:buClr>
                <a:srgbClr val="7F7F7F"/>
              </a:buClr>
              <a:buSzPts val="2400"/>
              <a:buFont typeface="Arial"/>
              <a:buAutoNum type="arabicPeriod"/>
              <a:defRPr sz="2400" b="0" i="0" u="none" strike="noStrike" cap="none">
                <a:solidFill>
                  <a:srgbClr val="7F7F7F"/>
                </a:solidFill>
                <a:latin typeface="Roboto Medium"/>
                <a:ea typeface="Roboto Medium"/>
                <a:cs typeface="Roboto Medium"/>
                <a:sym typeface="Roboto Medium"/>
              </a:defRPr>
            </a:lvl2pPr>
            <a:lvl3pPr marL="1371600" marR="0" lvl="2" indent="-228600" algn="l">
              <a:lnSpc>
                <a:spcPct val="90000"/>
              </a:lnSpc>
              <a:spcBef>
                <a:spcPts val="14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3pPr>
            <a:lvl4pPr marL="1828800" marR="0" lvl="3" indent="-228600" algn="l">
              <a:lnSpc>
                <a:spcPct val="90000"/>
              </a:lnSpc>
              <a:spcBef>
                <a:spcPts val="1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4pPr>
            <a:lvl5pPr marL="2286000" marR="0" lvl="4" indent="-228600" algn="l">
              <a:lnSpc>
                <a:spcPct val="90000"/>
              </a:lnSpc>
              <a:spcBef>
                <a:spcPts val="14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1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8722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2"/>
        <p:cNvGrpSpPr/>
        <p:nvPr/>
      </p:nvGrpSpPr>
      <p:grpSpPr>
        <a:xfrm>
          <a:off x="0" y="0"/>
          <a:ext cx="0" cy="0"/>
          <a:chOff x="0" y="0"/>
          <a:chExt cx="0" cy="0"/>
        </a:xfrm>
      </p:grpSpPr>
      <p:sp>
        <p:nvSpPr>
          <p:cNvPr id="33" name="Google Shape;33;p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5" name="Google Shape;35;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4293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7" name="Google Shape;47;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21777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50"/>
        <p:cNvGrpSpPr/>
        <p:nvPr/>
      </p:nvGrpSpPr>
      <p:grpSpPr>
        <a:xfrm>
          <a:off x="0" y="0"/>
          <a:ext cx="0" cy="0"/>
          <a:chOff x="0" y="0"/>
          <a:chExt cx="0" cy="0"/>
        </a:xfrm>
      </p:grpSpPr>
      <p:sp>
        <p:nvSpPr>
          <p:cNvPr id="51" name="Google Shape;5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0922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57"/>
        <p:cNvGrpSpPr/>
        <p:nvPr/>
      </p:nvGrpSpPr>
      <p:grpSpPr>
        <a:xfrm>
          <a:off x="0" y="0"/>
          <a:ext cx="0" cy="0"/>
          <a:chOff x="0" y="0"/>
          <a:chExt cx="0" cy="0"/>
        </a:xfrm>
      </p:grpSpPr>
      <p:sp>
        <p:nvSpPr>
          <p:cNvPr id="58" name="Google Shape;58;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2" name="Google Shape;62;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187447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681107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1"/>
        <p:cNvGrpSpPr/>
        <p:nvPr/>
      </p:nvGrpSpPr>
      <p:grpSpPr>
        <a:xfrm>
          <a:off x="0" y="0"/>
          <a:ext cx="0" cy="0"/>
          <a:chOff x="0" y="0"/>
          <a:chExt cx="0" cy="0"/>
        </a:xfrm>
      </p:grpSpPr>
      <p:sp>
        <p:nvSpPr>
          <p:cNvPr id="72" name="Google Shape;7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69305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75"/>
        <p:cNvGrpSpPr/>
        <p:nvPr/>
      </p:nvGrpSpPr>
      <p:grpSpPr>
        <a:xfrm>
          <a:off x="0" y="0"/>
          <a:ext cx="0" cy="0"/>
          <a:chOff x="0" y="0"/>
          <a:chExt cx="0" cy="0"/>
        </a:xfrm>
      </p:grpSpPr>
      <p:sp>
        <p:nvSpPr>
          <p:cNvPr id="76" name="Google Shape;76;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1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8" name="Google Shape;78;p1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9" name="Google Shape;79;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30619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82"/>
        <p:cNvGrpSpPr/>
        <p:nvPr/>
      </p:nvGrpSpPr>
      <p:grpSpPr>
        <a:xfrm>
          <a:off x="0" y="0"/>
          <a:ext cx="0" cy="0"/>
          <a:chOff x="0" y="0"/>
          <a:chExt cx="0" cy="0"/>
        </a:xfrm>
      </p:grpSpPr>
      <p:sp>
        <p:nvSpPr>
          <p:cNvPr id="83" name="Google Shape;83;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85" name="Google Shape;85;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6" name="Google Shape;8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79215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89"/>
        <p:cNvGrpSpPr/>
        <p:nvPr/>
      </p:nvGrpSpPr>
      <p:grpSpPr>
        <a:xfrm>
          <a:off x="0" y="0"/>
          <a:ext cx="0" cy="0"/>
          <a:chOff x="0" y="0"/>
          <a:chExt cx="0" cy="0"/>
        </a:xfrm>
      </p:grpSpPr>
      <p:sp>
        <p:nvSpPr>
          <p:cNvPr id="90" name="Google Shape;9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1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72287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1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02402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2463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137738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hyperlink" Target="https://drive.google.com/drive/folders/1vEstfkfZbUiPg5BQRh5lmQjovcD_g9i6?usp=sharin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forms.gle/dMSd729nJ6ZcadCS9" TargetMode="External"/><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drive.google.com/file/d/1lHmNaw0wxxtn8JQcVMCPQRw4NCW-tlWL/view?usp=sharin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7EB35E84-5960-AA15-D5D2-FCDA928FD2D3}"/>
            </a:ext>
          </a:extLst>
        </p:cNvPr>
        <p:cNvGrpSpPr/>
        <p:nvPr/>
      </p:nvGrpSpPr>
      <p:grpSpPr>
        <a:xfrm>
          <a:off x="0" y="0"/>
          <a:ext cx="0" cy="0"/>
          <a:chOff x="0" y="0"/>
          <a:chExt cx="0" cy="0"/>
        </a:xfrm>
      </p:grpSpPr>
      <p:sp>
        <p:nvSpPr>
          <p:cNvPr id="106" name="Google Shape;106;p15">
            <a:extLst>
              <a:ext uri="{FF2B5EF4-FFF2-40B4-BE49-F238E27FC236}">
                <a16:creationId xmlns:a16="http://schemas.microsoft.com/office/drawing/2014/main" id="{0794CBDF-89DA-68F4-4998-89F67853C47F}"/>
              </a:ext>
            </a:extLst>
          </p:cNvPr>
          <p:cNvSpPr txBox="1"/>
          <p:nvPr/>
        </p:nvSpPr>
        <p:spPr>
          <a:xfrm>
            <a:off x="2299977" y="4244086"/>
            <a:ext cx="7592045" cy="98484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000" b="1" kern="0" dirty="0">
                <a:solidFill>
                  <a:srgbClr val="FF0000"/>
                </a:solidFill>
                <a:latin typeface="Times New Roman"/>
                <a:ea typeface="Times New Roman"/>
                <a:cs typeface="Times New Roman"/>
                <a:sym typeface="Times New Roman"/>
              </a:rPr>
              <a:t>Ayu Sutra</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kern="0" dirty="0">
                <a:latin typeface="Arial"/>
                <a:cs typeface="Arial"/>
                <a:sym typeface="Arial"/>
              </a:rPr>
              <a:t>“A Smart HealthCare Assistant”</a:t>
            </a:r>
            <a:endParaRPr kumimoji="0" lang="en-US" b="1" i="0" u="none" strike="noStrike" kern="0" cap="none" spc="0" normalizeH="0" baseline="0" noProof="0" dirty="0">
              <a:ln>
                <a:noFill/>
              </a:ln>
              <a:effectLst/>
              <a:uLnTx/>
              <a:uFillTx/>
              <a:latin typeface="Times New Roman"/>
              <a:cs typeface="Times New Roman"/>
              <a:sym typeface="Times New Roman"/>
            </a:endParaRPr>
          </a:p>
        </p:txBody>
      </p:sp>
      <p:sp>
        <p:nvSpPr>
          <p:cNvPr id="107" name="Google Shape;107;p15">
            <a:extLst>
              <a:ext uri="{FF2B5EF4-FFF2-40B4-BE49-F238E27FC236}">
                <a16:creationId xmlns:a16="http://schemas.microsoft.com/office/drawing/2014/main" id="{5715D715-9E59-BD2C-C8BA-7435D7135AF7}"/>
              </a:ext>
            </a:extLst>
          </p:cNvPr>
          <p:cNvSpPr txBox="1"/>
          <p:nvPr/>
        </p:nvSpPr>
        <p:spPr>
          <a:xfrm>
            <a:off x="1569910" y="2804655"/>
            <a:ext cx="9838762" cy="1200288"/>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School of Compu</a:t>
            </a:r>
            <a:r>
              <a:rPr lang="en-US" sz="3600" b="1" kern="0" dirty="0">
                <a:solidFill>
                  <a:srgbClr val="000000"/>
                </a:solidFill>
                <a:latin typeface="Times New Roman"/>
                <a:ea typeface="Times New Roman"/>
                <a:cs typeface="Times New Roman"/>
                <a:sym typeface="Times New Roman"/>
              </a:rPr>
              <a:t>ter Science &amp; Engineering</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600" b="1" i="0" u="none" strike="noStrike" kern="0" cap="none" spc="0" normalizeH="0" baseline="0" noProof="0" dirty="0">
                <a:ln>
                  <a:noFill/>
                </a:ln>
                <a:solidFill>
                  <a:srgbClr val="000000"/>
                </a:solidFill>
                <a:effectLst/>
                <a:uLnTx/>
                <a:uFillTx/>
                <a:latin typeface="Times New Roman"/>
                <a:ea typeface="Times New Roman"/>
                <a:cs typeface="Times New Roman"/>
                <a:sym typeface="Times New Roman"/>
              </a:rPr>
              <a:t>AI </a:t>
            </a:r>
            <a:r>
              <a:rPr kumimoji="0" lang="en-US" sz="3600" b="1" i="0" u="none" strike="noStrike" kern="0" cap="none" spc="0" normalizeH="0" baseline="0" noProof="0">
                <a:ln>
                  <a:noFill/>
                </a:ln>
                <a:solidFill>
                  <a:srgbClr val="000000"/>
                </a:solidFill>
                <a:effectLst/>
                <a:uLnTx/>
                <a:uFillTx/>
                <a:latin typeface="Times New Roman"/>
                <a:ea typeface="Times New Roman"/>
                <a:cs typeface="Times New Roman"/>
                <a:sym typeface="Times New Roman"/>
              </a:rPr>
              <a:t>Application Development – IA1 </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157260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735E7-678C-8AF0-B273-A067CA793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CF152-678E-EC39-589A-AFB6DAA8AF09}"/>
              </a:ext>
            </a:extLst>
          </p:cNvPr>
          <p:cNvSpPr>
            <a:spLocks noGrp="1"/>
          </p:cNvSpPr>
          <p:nvPr>
            <p:ph type="title"/>
          </p:nvPr>
        </p:nvSpPr>
        <p:spPr>
          <a:xfrm>
            <a:off x="695400" y="395786"/>
            <a:ext cx="7937961" cy="838202"/>
          </a:xfrm>
        </p:spPr>
        <p:txBody>
          <a:bodyPr/>
          <a:lstStyle/>
          <a:p>
            <a:r>
              <a:rPr lang="en-US" b="1" dirty="0">
                <a:solidFill>
                  <a:schemeClr val="tx1"/>
                </a:solidFill>
                <a:ea typeface="Calibri"/>
                <a:cs typeface="Calibri"/>
              </a:rPr>
              <a:t>Team members &amp; roles</a:t>
            </a:r>
            <a:endParaRPr lang="en-US" b="1" dirty="0">
              <a:solidFill>
                <a:schemeClr val="tx1"/>
              </a:solidFill>
            </a:endParaRPr>
          </a:p>
        </p:txBody>
      </p:sp>
      <p:graphicFrame>
        <p:nvGraphicFramePr>
          <p:cNvPr id="6" name="Table 5">
            <a:extLst>
              <a:ext uri="{FF2B5EF4-FFF2-40B4-BE49-F238E27FC236}">
                <a16:creationId xmlns:a16="http://schemas.microsoft.com/office/drawing/2014/main" id="{85182370-2B47-D13B-FC3B-F8B25566CAEF}"/>
              </a:ext>
            </a:extLst>
          </p:cNvPr>
          <p:cNvGraphicFramePr>
            <a:graphicFrameLocks noGrp="1"/>
          </p:cNvGraphicFramePr>
          <p:nvPr>
            <p:extLst>
              <p:ext uri="{D42A27DB-BD31-4B8C-83A1-F6EECF244321}">
                <p14:modId xmlns:p14="http://schemas.microsoft.com/office/powerpoint/2010/main" val="1402091592"/>
              </p:ext>
            </p:extLst>
          </p:nvPr>
        </p:nvGraphicFramePr>
        <p:xfrm>
          <a:off x="401942" y="1947877"/>
          <a:ext cx="9832932" cy="3435391"/>
        </p:xfrm>
        <a:graphic>
          <a:graphicData uri="http://schemas.openxmlformats.org/drawingml/2006/table">
            <a:tbl>
              <a:tblPr firstRow="1" bandRow="1">
                <a:tableStyleId>{5C22544A-7EE6-4342-B048-85BDC9FD1C3A}</a:tableStyleId>
              </a:tblPr>
              <a:tblGrid>
                <a:gridCol w="4916466">
                  <a:extLst>
                    <a:ext uri="{9D8B030D-6E8A-4147-A177-3AD203B41FA5}">
                      <a16:colId xmlns:a16="http://schemas.microsoft.com/office/drawing/2014/main" val="50089967"/>
                    </a:ext>
                  </a:extLst>
                </a:gridCol>
                <a:gridCol w="4916466">
                  <a:extLst>
                    <a:ext uri="{9D8B030D-6E8A-4147-A177-3AD203B41FA5}">
                      <a16:colId xmlns:a16="http://schemas.microsoft.com/office/drawing/2014/main" val="975677717"/>
                    </a:ext>
                  </a:extLst>
                </a:gridCol>
              </a:tblGrid>
              <a:tr h="576197">
                <a:tc>
                  <a:txBody>
                    <a:bodyPr/>
                    <a:lstStyle/>
                    <a:p>
                      <a:pPr algn="ctr"/>
                      <a:r>
                        <a:rPr lang="en-IN" sz="2000" dirty="0"/>
                        <a:t>Team member name</a:t>
                      </a:r>
                    </a:p>
                  </a:txBody>
                  <a:tcPr/>
                </a:tc>
                <a:tc>
                  <a:txBody>
                    <a:bodyPr/>
                    <a:lstStyle/>
                    <a:p>
                      <a:pPr algn="ctr"/>
                      <a:r>
                        <a:rPr lang="en-IN" sz="2000" dirty="0"/>
                        <a:t> Role</a:t>
                      </a:r>
                    </a:p>
                  </a:txBody>
                  <a:tcPr/>
                </a:tc>
                <a:extLst>
                  <a:ext uri="{0D108BD9-81ED-4DB2-BD59-A6C34878D82A}">
                    <a16:rowId xmlns:a16="http://schemas.microsoft.com/office/drawing/2014/main" val="2884729165"/>
                  </a:ext>
                </a:extLst>
              </a:tr>
              <a:tr h="554406">
                <a:tc>
                  <a:txBody>
                    <a:bodyPr/>
                    <a:lstStyle/>
                    <a:p>
                      <a:r>
                        <a:rPr lang="en-IN" sz="1800" b="1" dirty="0">
                          <a:solidFill>
                            <a:schemeClr val="tx1"/>
                          </a:solidFill>
                        </a:rPr>
                        <a:t>B Nishitha Mani-R23EF044</a:t>
                      </a:r>
                    </a:p>
                  </a:txBody>
                  <a:tcPr/>
                </a:tc>
                <a:tc>
                  <a:txBody>
                    <a:bodyPr/>
                    <a:lstStyle/>
                    <a:p>
                      <a:r>
                        <a:rPr lang="en-IN" sz="1600" dirty="0"/>
                        <a:t>Team Lead and Development Lead</a:t>
                      </a:r>
                    </a:p>
                  </a:txBody>
                  <a:tcPr/>
                </a:tc>
                <a:extLst>
                  <a:ext uri="{0D108BD9-81ED-4DB2-BD59-A6C34878D82A}">
                    <a16:rowId xmlns:a16="http://schemas.microsoft.com/office/drawing/2014/main" val="2594477258"/>
                  </a:ext>
                </a:extLst>
              </a:tr>
              <a:tr h="576197">
                <a:tc>
                  <a:txBody>
                    <a:bodyPr/>
                    <a:lstStyle/>
                    <a:p>
                      <a:r>
                        <a:rPr lang="en-IN" sz="1800" b="1" dirty="0"/>
                        <a:t>A Shruthi-R23EF003</a:t>
                      </a:r>
                    </a:p>
                  </a:txBody>
                  <a:tcPr/>
                </a:tc>
                <a:tc>
                  <a:txBody>
                    <a:bodyPr/>
                    <a:lstStyle/>
                    <a:p>
                      <a:r>
                        <a:rPr lang="en-IN" sz="1600" dirty="0"/>
                        <a:t>Developer</a:t>
                      </a:r>
                    </a:p>
                  </a:txBody>
                  <a:tcPr/>
                </a:tc>
                <a:extLst>
                  <a:ext uri="{0D108BD9-81ED-4DB2-BD59-A6C34878D82A}">
                    <a16:rowId xmlns:a16="http://schemas.microsoft.com/office/drawing/2014/main" val="3251612009"/>
                  </a:ext>
                </a:extLst>
              </a:tr>
              <a:tr h="576197">
                <a:tc>
                  <a:txBody>
                    <a:bodyPr/>
                    <a:lstStyle/>
                    <a:p>
                      <a:r>
                        <a:rPr lang="en-IN" sz="1800" b="1" dirty="0"/>
                        <a:t>Varshata-R23EF299</a:t>
                      </a:r>
                    </a:p>
                  </a:txBody>
                  <a:tcPr/>
                </a:tc>
                <a:tc>
                  <a:txBody>
                    <a:bodyPr/>
                    <a:lstStyle/>
                    <a:p>
                      <a:r>
                        <a:rPr lang="en-US" sz="1600" dirty="0"/>
                        <a:t>DevOps / GitHub / Product Build / Documents</a:t>
                      </a:r>
                      <a:endParaRPr lang="en-IN" sz="1600" dirty="0"/>
                    </a:p>
                  </a:txBody>
                  <a:tcPr/>
                </a:tc>
                <a:extLst>
                  <a:ext uri="{0D108BD9-81ED-4DB2-BD59-A6C34878D82A}">
                    <a16:rowId xmlns:a16="http://schemas.microsoft.com/office/drawing/2014/main" val="218989344"/>
                  </a:ext>
                </a:extLst>
              </a:tr>
              <a:tr h="576197">
                <a:tc>
                  <a:txBody>
                    <a:bodyPr/>
                    <a:lstStyle/>
                    <a:p>
                      <a:r>
                        <a:rPr lang="en-IN" sz="1800" b="1" dirty="0"/>
                        <a:t>Nihal Prakash Nayak-R23EF154</a:t>
                      </a:r>
                    </a:p>
                  </a:txBody>
                  <a:tcPr/>
                </a:tc>
                <a:tc>
                  <a:txBody>
                    <a:bodyPr/>
                    <a:lstStyle/>
                    <a:p>
                      <a:r>
                        <a:rPr lang="en-IN" sz="1600" dirty="0"/>
                        <a:t>Test Lead</a:t>
                      </a:r>
                    </a:p>
                  </a:txBody>
                  <a:tcPr/>
                </a:tc>
                <a:extLst>
                  <a:ext uri="{0D108BD9-81ED-4DB2-BD59-A6C34878D82A}">
                    <a16:rowId xmlns:a16="http://schemas.microsoft.com/office/drawing/2014/main" val="2531502386"/>
                  </a:ext>
                </a:extLst>
              </a:tr>
              <a:tr h="576197">
                <a:tc>
                  <a:txBody>
                    <a:bodyPr/>
                    <a:lstStyle/>
                    <a:p>
                      <a:r>
                        <a:rPr lang="en-IN" sz="1800" b="1" dirty="0"/>
                        <a:t>Amulya K-R23EF020</a:t>
                      </a:r>
                    </a:p>
                  </a:txBody>
                  <a:tcPr/>
                </a:tc>
                <a:tc>
                  <a:txBody>
                    <a:bodyPr/>
                    <a:lstStyle/>
                    <a:p>
                      <a:r>
                        <a:rPr lang="en-IN" sz="1600" dirty="0"/>
                        <a:t>Customer Contact Lead</a:t>
                      </a:r>
                    </a:p>
                  </a:txBody>
                  <a:tcPr/>
                </a:tc>
                <a:extLst>
                  <a:ext uri="{0D108BD9-81ED-4DB2-BD59-A6C34878D82A}">
                    <a16:rowId xmlns:a16="http://schemas.microsoft.com/office/drawing/2014/main" val="3911703644"/>
                  </a:ext>
                </a:extLst>
              </a:tr>
            </a:tbl>
          </a:graphicData>
        </a:graphic>
      </p:graphicFrame>
    </p:spTree>
    <p:extLst>
      <p:ext uri="{BB962C8B-B14F-4D97-AF65-F5344CB8AC3E}">
        <p14:creationId xmlns:p14="http://schemas.microsoft.com/office/powerpoint/2010/main" val="259496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5886C-2AC8-ED81-81E1-EB56CE95F0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18B1A-D73F-F2F6-5303-A4369C417FF4}"/>
              </a:ext>
            </a:extLst>
          </p:cNvPr>
          <p:cNvSpPr>
            <a:spLocks noGrp="1"/>
          </p:cNvSpPr>
          <p:nvPr>
            <p:ph type="title"/>
          </p:nvPr>
        </p:nvSpPr>
        <p:spPr>
          <a:xfrm>
            <a:off x="695400" y="395786"/>
            <a:ext cx="7937961" cy="838202"/>
          </a:xfrm>
        </p:spPr>
        <p:txBody>
          <a:bodyPr/>
          <a:lstStyle/>
          <a:p>
            <a:r>
              <a:rPr lang="en-US" b="1" dirty="0">
                <a:solidFill>
                  <a:schemeClr val="tx1"/>
                </a:solidFill>
                <a:ea typeface="Calibri"/>
                <a:cs typeface="Calibri"/>
              </a:rPr>
              <a:t>Problem Statement</a:t>
            </a:r>
            <a:endParaRPr lang="en-US" b="1" dirty="0">
              <a:solidFill>
                <a:schemeClr val="tx1"/>
              </a:solidFill>
            </a:endParaRPr>
          </a:p>
        </p:txBody>
      </p:sp>
      <p:sp>
        <p:nvSpPr>
          <p:cNvPr id="3" name="Content Placeholder 2">
            <a:extLst>
              <a:ext uri="{FF2B5EF4-FFF2-40B4-BE49-F238E27FC236}">
                <a16:creationId xmlns:a16="http://schemas.microsoft.com/office/drawing/2014/main" id="{9D0C28EA-830E-81C1-7404-A72E3E5F5859}"/>
              </a:ext>
            </a:extLst>
          </p:cNvPr>
          <p:cNvSpPr>
            <a:spLocks noGrp="1"/>
          </p:cNvSpPr>
          <p:nvPr>
            <p:ph type="body" idx="1"/>
          </p:nvPr>
        </p:nvSpPr>
        <p:spPr>
          <a:xfrm>
            <a:off x="1004160" y="1595806"/>
            <a:ext cx="10519785" cy="3790386"/>
          </a:xfrm>
        </p:spPr>
        <p:txBody>
          <a:bodyPr spcFirstLastPara="1" vert="horz" wrap="square" lIns="121920" tIns="60960" rIns="121920" bIns="60960" rtlCol="0" anchor="t" anchorCtr="0">
            <a:normAutofit/>
          </a:bodyPr>
          <a:lstStyle/>
          <a:p>
            <a:pPr marL="0" indent="0">
              <a:spcBef>
                <a:spcPts val="27"/>
              </a:spcBef>
              <a:buNone/>
            </a:pPr>
            <a:endParaRPr lang="en-US" dirty="0">
              <a:ea typeface="Calibri"/>
              <a:cs typeface="Calibri"/>
            </a:endParaRPr>
          </a:p>
          <a:p>
            <a:pPr marL="0" indent="0">
              <a:spcBef>
                <a:spcPts val="27"/>
              </a:spcBef>
              <a:buNone/>
            </a:pPr>
            <a:r>
              <a:rPr lang="en-US" dirty="0">
                <a:solidFill>
                  <a:schemeClr val="tx1"/>
                </a:solidFill>
              </a:rPr>
              <a:t>In critical moments, delayed or wrong healthcare decisions can cost lives due to lack of proper guidance.</a:t>
            </a:r>
            <a:br>
              <a:rPr lang="en-US" dirty="0">
                <a:solidFill>
                  <a:schemeClr val="tx1"/>
                </a:solidFill>
              </a:rPr>
            </a:br>
            <a:r>
              <a:rPr lang="en-US" dirty="0">
                <a:solidFill>
                  <a:schemeClr val="tx1"/>
                </a:solidFill>
              </a:rPr>
              <a:t>A smart system is needed to instantly connect users to the right medical services based on their symptoms and location.</a:t>
            </a:r>
            <a:endParaRPr lang="en-US" dirty="0">
              <a:solidFill>
                <a:schemeClr val="tx1"/>
              </a:solidFill>
              <a:ea typeface="Calibri"/>
              <a:cs typeface="Calibri"/>
            </a:endParaRPr>
          </a:p>
          <a:p>
            <a:pPr marL="0" indent="0">
              <a:spcBef>
                <a:spcPts val="27"/>
              </a:spcBef>
              <a:buNone/>
            </a:pPr>
            <a:endParaRPr lang="en-US" dirty="0">
              <a:ea typeface="Calibri"/>
              <a:cs typeface="Calibri"/>
            </a:endParaRPr>
          </a:p>
          <a:p>
            <a:pPr marL="0" indent="0">
              <a:spcBef>
                <a:spcPts val="27"/>
              </a:spcBef>
              <a:buNone/>
            </a:pPr>
            <a:endParaRPr lang="en-US" dirty="0">
              <a:ea typeface="Calibri"/>
              <a:cs typeface="Calibri"/>
            </a:endParaRPr>
          </a:p>
        </p:txBody>
      </p:sp>
    </p:spTree>
    <p:extLst>
      <p:ext uri="{BB962C8B-B14F-4D97-AF65-F5344CB8AC3E}">
        <p14:creationId xmlns:p14="http://schemas.microsoft.com/office/powerpoint/2010/main" val="1621328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14202-8164-A88E-0CA6-8593095CEF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7E602-D398-31B9-4AEB-C32E61CFBBBC}"/>
              </a:ext>
            </a:extLst>
          </p:cNvPr>
          <p:cNvSpPr>
            <a:spLocks noGrp="1"/>
          </p:cNvSpPr>
          <p:nvPr>
            <p:ph type="title"/>
          </p:nvPr>
        </p:nvSpPr>
        <p:spPr>
          <a:xfrm>
            <a:off x="695400" y="395786"/>
            <a:ext cx="7937961" cy="838202"/>
          </a:xfrm>
        </p:spPr>
        <p:txBody>
          <a:bodyPr/>
          <a:lstStyle/>
          <a:p>
            <a:r>
              <a:rPr lang="en-US" b="1" dirty="0">
                <a:solidFill>
                  <a:schemeClr val="tx1"/>
                </a:solidFill>
                <a:ea typeface="Calibri"/>
                <a:cs typeface="Calibri"/>
              </a:rPr>
              <a:t> User/ Customer Understanding</a:t>
            </a:r>
            <a:endParaRPr lang="en-US" b="1" dirty="0">
              <a:solidFill>
                <a:schemeClr val="tx1"/>
              </a:solidFill>
            </a:endParaRPr>
          </a:p>
        </p:txBody>
      </p:sp>
      <p:pic>
        <p:nvPicPr>
          <p:cNvPr id="5" name="Picture 4">
            <a:extLst>
              <a:ext uri="{FF2B5EF4-FFF2-40B4-BE49-F238E27FC236}">
                <a16:creationId xmlns:a16="http://schemas.microsoft.com/office/drawing/2014/main" id="{512A9904-B4C0-188E-BCDC-D8C66CEA61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920" y="1233988"/>
            <a:ext cx="3489960" cy="2516505"/>
          </a:xfrm>
          <a:prstGeom prst="rect">
            <a:avLst/>
          </a:prstGeom>
        </p:spPr>
      </p:pic>
      <p:pic>
        <p:nvPicPr>
          <p:cNvPr id="7" name="Picture 6">
            <a:extLst>
              <a:ext uri="{FF2B5EF4-FFF2-40B4-BE49-F238E27FC236}">
                <a16:creationId xmlns:a16="http://schemas.microsoft.com/office/drawing/2014/main" id="{F34D691E-A60F-32D7-904B-207F66C5A1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5360" y="1233988"/>
            <a:ext cx="3489960" cy="2516505"/>
          </a:xfrm>
          <a:prstGeom prst="rect">
            <a:avLst/>
          </a:prstGeom>
        </p:spPr>
      </p:pic>
      <p:pic>
        <p:nvPicPr>
          <p:cNvPr id="9" name="Picture 8">
            <a:extLst>
              <a:ext uri="{FF2B5EF4-FFF2-40B4-BE49-F238E27FC236}">
                <a16:creationId xmlns:a16="http://schemas.microsoft.com/office/drawing/2014/main" id="{E14A884E-FD5F-8AD5-061B-62BA12779B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86800" y="1233988"/>
            <a:ext cx="3038400" cy="2516505"/>
          </a:xfrm>
          <a:prstGeom prst="rect">
            <a:avLst/>
          </a:prstGeom>
        </p:spPr>
      </p:pic>
      <p:sp>
        <p:nvSpPr>
          <p:cNvPr id="12" name="TextBox 11">
            <a:hlinkClick r:id="rId6"/>
            <a:extLst>
              <a:ext uri="{FF2B5EF4-FFF2-40B4-BE49-F238E27FC236}">
                <a16:creationId xmlns:a16="http://schemas.microsoft.com/office/drawing/2014/main" id="{210BD353-2655-4D23-B210-646C7D861203}"/>
              </a:ext>
            </a:extLst>
          </p:cNvPr>
          <p:cNvSpPr txBox="1"/>
          <p:nvPr/>
        </p:nvSpPr>
        <p:spPr>
          <a:xfrm>
            <a:off x="283920" y="4363282"/>
            <a:ext cx="11359440" cy="1754326"/>
          </a:xfrm>
          <a:prstGeom prst="rect">
            <a:avLst/>
          </a:prstGeom>
          <a:noFill/>
        </p:spPr>
        <p:txBody>
          <a:bodyPr wrap="square" rtlCol="0">
            <a:spAutoFit/>
          </a:bodyPr>
          <a:lstStyle/>
          <a:p>
            <a:r>
              <a:rPr lang="en-US" dirty="0">
                <a:hlinkClick r:id="rId6"/>
              </a:rPr>
              <a:t>Survey form</a:t>
            </a:r>
          </a:p>
          <a:p>
            <a:r>
              <a:rPr lang="en-US" dirty="0">
                <a:hlinkClick r:id="rId6"/>
              </a:rPr>
              <a:t>https://forms.gle/dMSd729nJ6ZcadCS9</a:t>
            </a:r>
            <a:endParaRPr lang="en-US" dirty="0"/>
          </a:p>
          <a:p>
            <a:endParaRPr lang="en-US" dirty="0"/>
          </a:p>
          <a:p>
            <a:r>
              <a:rPr lang="en-US" dirty="0"/>
              <a:t>Customer Interaction Link:</a:t>
            </a:r>
          </a:p>
          <a:p>
            <a:r>
              <a:rPr lang="en-US" dirty="0">
                <a:hlinkClick r:id="rId7"/>
              </a:rPr>
              <a:t>https://drive.google.com/drive/folders/1vEstfkfZbUiPg5BQRh5lmQjovcD_g9i6?usp=sharing</a:t>
            </a:r>
            <a:endParaRPr lang="en-US" dirty="0"/>
          </a:p>
          <a:p>
            <a:endParaRPr lang="en-US" dirty="0"/>
          </a:p>
        </p:txBody>
      </p:sp>
    </p:spTree>
    <p:extLst>
      <p:ext uri="{BB962C8B-B14F-4D97-AF65-F5344CB8AC3E}">
        <p14:creationId xmlns:p14="http://schemas.microsoft.com/office/powerpoint/2010/main" val="552599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E22C4-7666-AFE3-A07F-5A5D3E72C4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D13FFD-F5AA-B7BE-FD50-CA6734509EDB}"/>
              </a:ext>
            </a:extLst>
          </p:cNvPr>
          <p:cNvSpPr>
            <a:spLocks noGrp="1"/>
          </p:cNvSpPr>
          <p:nvPr>
            <p:ph type="title"/>
          </p:nvPr>
        </p:nvSpPr>
        <p:spPr/>
        <p:txBody>
          <a:bodyPr/>
          <a:lstStyle/>
          <a:p>
            <a:r>
              <a:rPr lang="en-US" b="1" dirty="0">
                <a:solidFill>
                  <a:schemeClr val="tx1"/>
                </a:solidFill>
                <a:ea typeface="Calibri"/>
                <a:cs typeface="Calibri"/>
              </a:rPr>
              <a:t>Ideal Customer Profile (ICP)</a:t>
            </a:r>
            <a:endParaRPr lang="en-US" b="1" dirty="0">
              <a:solidFill>
                <a:schemeClr val="tx1"/>
              </a:solidFill>
            </a:endParaRPr>
          </a:p>
        </p:txBody>
      </p:sp>
      <p:sp>
        <p:nvSpPr>
          <p:cNvPr id="3" name="Content Placeholder 2">
            <a:extLst>
              <a:ext uri="{FF2B5EF4-FFF2-40B4-BE49-F238E27FC236}">
                <a16:creationId xmlns:a16="http://schemas.microsoft.com/office/drawing/2014/main" id="{483C3445-0940-99F0-AB5E-58C8CA362A11}"/>
              </a:ext>
            </a:extLst>
          </p:cNvPr>
          <p:cNvSpPr>
            <a:spLocks noGrp="1"/>
          </p:cNvSpPr>
          <p:nvPr>
            <p:ph type="body" idx="1"/>
          </p:nvPr>
        </p:nvSpPr>
        <p:spPr>
          <a:xfrm>
            <a:off x="405840" y="1268760"/>
            <a:ext cx="10801201" cy="4552920"/>
          </a:xfrm>
        </p:spPr>
        <p:txBody>
          <a:bodyPr spcFirstLastPara="1" vert="horz" wrap="square" lIns="121920" tIns="60960" rIns="121920" bIns="60960" rtlCol="0" anchor="t" anchorCtr="0">
            <a:normAutofit fontScale="77500" lnSpcReduction="20000"/>
          </a:bodyPr>
          <a:lstStyle/>
          <a:p>
            <a:pPr marL="0" indent="0">
              <a:spcBef>
                <a:spcPts val="27"/>
              </a:spcBef>
              <a:buNone/>
            </a:pPr>
            <a:r>
              <a:rPr lang="en-US" dirty="0">
                <a:ea typeface="Calibri"/>
                <a:cs typeface="Calibri"/>
              </a:rPr>
              <a:t>   Our Ideal Customer:</a:t>
            </a:r>
          </a:p>
          <a:p>
            <a:pPr marL="0" indent="0">
              <a:spcBef>
                <a:spcPts val="27"/>
              </a:spcBef>
              <a:buNone/>
            </a:pPr>
            <a:endParaRPr lang="en-US" dirty="0">
              <a:ea typeface="Calibri"/>
              <a:cs typeface="Calibri"/>
            </a:endParaRPr>
          </a:p>
          <a:p>
            <a:pPr>
              <a:buFont typeface="Wingdings" panose="05000000000000000000" pitchFamily="2" charset="2"/>
              <a:buChar char="Ø"/>
            </a:pPr>
            <a:r>
              <a:rPr lang="en-US" b="1" dirty="0">
                <a:solidFill>
                  <a:schemeClr val="tx1"/>
                </a:solidFill>
              </a:rPr>
              <a:t>Demographic Profile</a:t>
            </a:r>
          </a:p>
          <a:p>
            <a:pPr marL="76200" indent="0">
              <a:buNone/>
            </a:pPr>
            <a:endParaRPr lang="en-US" b="1" dirty="0">
              <a:solidFill>
                <a:schemeClr val="tx1"/>
              </a:solidFill>
            </a:endParaRPr>
          </a:p>
          <a:p>
            <a:pPr>
              <a:lnSpc>
                <a:spcPct val="120000"/>
              </a:lnSpc>
              <a:buFont typeface="Arial" panose="020B0604020202020204" pitchFamily="34" charset="0"/>
              <a:buChar char="•"/>
            </a:pPr>
            <a:r>
              <a:rPr lang="en-US" dirty="0">
                <a:solidFill>
                  <a:schemeClr val="tx1"/>
                </a:solidFill>
              </a:rPr>
              <a:t>Age: 18 – 60 years </a:t>
            </a:r>
          </a:p>
          <a:p>
            <a:pPr>
              <a:lnSpc>
                <a:spcPct val="120000"/>
              </a:lnSpc>
              <a:buFont typeface="Arial" panose="020B0604020202020204" pitchFamily="34" charset="0"/>
              <a:buChar char="•"/>
            </a:pPr>
            <a:r>
              <a:rPr lang="en-US" dirty="0">
                <a:solidFill>
                  <a:schemeClr val="tx1"/>
                </a:solidFill>
              </a:rPr>
              <a:t>Location: Rural and Semi-Urban areas ,Urban areas</a:t>
            </a:r>
          </a:p>
          <a:p>
            <a:pPr>
              <a:lnSpc>
                <a:spcPct val="120000"/>
              </a:lnSpc>
              <a:buFont typeface="Arial" panose="020B0604020202020204" pitchFamily="34" charset="0"/>
              <a:buChar char="•"/>
            </a:pPr>
            <a:r>
              <a:rPr lang="en-US" dirty="0">
                <a:solidFill>
                  <a:schemeClr val="tx1"/>
                </a:solidFill>
              </a:rPr>
              <a:t>Occupation: Farmers, daily wage workers, small business owners, homemakers </a:t>
            </a:r>
          </a:p>
          <a:p>
            <a:pPr>
              <a:lnSpc>
                <a:spcPct val="120000"/>
              </a:lnSpc>
              <a:buFont typeface="Arial" panose="020B0604020202020204" pitchFamily="34" charset="0"/>
              <a:buChar char="•"/>
            </a:pPr>
            <a:r>
              <a:rPr lang="en-US" dirty="0">
                <a:solidFill>
                  <a:schemeClr val="tx1"/>
                </a:solidFill>
              </a:rPr>
              <a:t>Device Usage: Basic smartphone users with limited but active internet access </a:t>
            </a:r>
          </a:p>
          <a:p>
            <a:pPr marL="76200" indent="0">
              <a:lnSpc>
                <a:spcPct val="120000"/>
              </a:lnSpc>
              <a:buNone/>
            </a:pPr>
            <a:br>
              <a:rPr lang="en-US" dirty="0">
                <a:solidFill>
                  <a:schemeClr val="tx1"/>
                </a:solidFill>
              </a:rPr>
            </a:br>
            <a:endParaRPr lang="en-US" dirty="0">
              <a:solidFill>
                <a:schemeClr val="tx1"/>
              </a:solidFill>
            </a:endParaRPr>
          </a:p>
          <a:p>
            <a:pPr>
              <a:buFont typeface="Wingdings" panose="05000000000000000000" pitchFamily="2" charset="2"/>
              <a:buChar char="Ø"/>
            </a:pPr>
            <a:r>
              <a:rPr lang="en-US" b="1" dirty="0"/>
              <a:t> </a:t>
            </a:r>
            <a:r>
              <a:rPr lang="en-US" b="1" dirty="0">
                <a:solidFill>
                  <a:schemeClr val="tx1"/>
                </a:solidFill>
              </a:rPr>
              <a:t>Psychographic Profile</a:t>
            </a:r>
          </a:p>
          <a:p>
            <a:pPr>
              <a:buFont typeface="Wingdings" panose="05000000000000000000" pitchFamily="2" charset="2"/>
              <a:buChar char="Ø"/>
            </a:pPr>
            <a:endParaRPr lang="en-US" b="1" dirty="0">
              <a:solidFill>
                <a:schemeClr val="tx1"/>
              </a:solidFill>
            </a:endParaRPr>
          </a:p>
          <a:p>
            <a:pPr>
              <a:lnSpc>
                <a:spcPct val="120000"/>
              </a:lnSpc>
              <a:buFont typeface="Arial" panose="020B0604020202020204" pitchFamily="34" charset="0"/>
              <a:buChar char="•"/>
            </a:pPr>
            <a:r>
              <a:rPr lang="en-US" dirty="0">
                <a:solidFill>
                  <a:schemeClr val="tx1"/>
                </a:solidFill>
              </a:rPr>
              <a:t>Feels uncertain and dependent when health issues occur. </a:t>
            </a:r>
          </a:p>
          <a:p>
            <a:pPr>
              <a:lnSpc>
                <a:spcPct val="120000"/>
              </a:lnSpc>
              <a:buFont typeface="Arial" panose="020B0604020202020204" pitchFamily="34" charset="0"/>
              <a:buChar char="•"/>
            </a:pPr>
            <a:r>
              <a:rPr lang="en-US" dirty="0">
                <a:solidFill>
                  <a:schemeClr val="tx1"/>
                </a:solidFill>
              </a:rPr>
              <a:t>Prefers simple and clear guidance rather than complex information .</a:t>
            </a:r>
          </a:p>
          <a:p>
            <a:pPr>
              <a:lnSpc>
                <a:spcPct val="120000"/>
              </a:lnSpc>
              <a:buFont typeface="Arial" panose="020B0604020202020204" pitchFamily="34" charset="0"/>
              <a:buChar char="•"/>
            </a:pPr>
            <a:r>
              <a:rPr lang="en-US" dirty="0">
                <a:solidFill>
                  <a:schemeClr val="tx1"/>
                </a:solidFill>
              </a:rPr>
              <a:t>Has limited awareness of nearby healthcare facilities .</a:t>
            </a:r>
          </a:p>
          <a:p>
            <a:pPr>
              <a:lnSpc>
                <a:spcPct val="120000"/>
              </a:lnSpc>
              <a:buFont typeface="Arial" panose="020B0604020202020204" pitchFamily="34" charset="0"/>
              <a:buChar char="•"/>
            </a:pPr>
            <a:r>
              <a:rPr lang="en-US" dirty="0">
                <a:solidFill>
                  <a:schemeClr val="tx1"/>
                </a:solidFill>
              </a:rPr>
              <a:t>Values trust, affordability, and accessibility .</a:t>
            </a:r>
          </a:p>
          <a:p>
            <a:pPr>
              <a:lnSpc>
                <a:spcPct val="120000"/>
              </a:lnSpc>
              <a:buFont typeface="Arial" panose="020B0604020202020204" pitchFamily="34" charset="0"/>
              <a:buChar char="•"/>
            </a:pPr>
            <a:r>
              <a:rPr lang="en-US" dirty="0">
                <a:solidFill>
                  <a:schemeClr val="tx1"/>
                </a:solidFill>
              </a:rPr>
              <a:t>Gets stressed during emergencies due to lack of quick support</a:t>
            </a:r>
            <a:r>
              <a:rPr lang="en-US" b="1" dirty="0">
                <a:solidFill>
                  <a:schemeClr val="tx1"/>
                </a:solidFill>
              </a:rPr>
              <a:t>.</a:t>
            </a:r>
            <a:endParaRPr lang="en-US" dirty="0">
              <a:solidFill>
                <a:schemeClr val="tx1"/>
              </a:solidFill>
            </a:endParaRPr>
          </a:p>
          <a:p>
            <a:pPr marL="0" indent="0">
              <a:spcBef>
                <a:spcPts val="27"/>
              </a:spcBef>
              <a:buNone/>
            </a:pPr>
            <a:endParaRPr lang="en-US" dirty="0"/>
          </a:p>
        </p:txBody>
      </p:sp>
    </p:spTree>
    <p:extLst>
      <p:ext uri="{BB962C8B-B14F-4D97-AF65-F5344CB8AC3E}">
        <p14:creationId xmlns:p14="http://schemas.microsoft.com/office/powerpoint/2010/main" val="1118610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6636C-7729-37EE-3B86-F1312175DC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9B525-9939-960F-B359-A89DCC475A6D}"/>
              </a:ext>
            </a:extLst>
          </p:cNvPr>
          <p:cNvSpPr>
            <a:spLocks noGrp="1"/>
          </p:cNvSpPr>
          <p:nvPr>
            <p:ph type="title"/>
          </p:nvPr>
        </p:nvSpPr>
        <p:spPr>
          <a:xfrm>
            <a:off x="106681" y="0"/>
            <a:ext cx="4084320" cy="589957"/>
          </a:xfrm>
        </p:spPr>
        <p:txBody>
          <a:bodyPr/>
          <a:lstStyle/>
          <a:p>
            <a:r>
              <a:rPr lang="en-US" dirty="0">
                <a:solidFill>
                  <a:schemeClr val="tx1"/>
                </a:solidFill>
                <a:ea typeface="Calibri"/>
                <a:cs typeface="Calibri"/>
              </a:rPr>
              <a:t>Customer Persona (CP)</a:t>
            </a:r>
            <a:endParaRPr lang="en-US" dirty="0">
              <a:solidFill>
                <a:schemeClr val="tx1"/>
              </a:solidFill>
            </a:endParaRPr>
          </a:p>
        </p:txBody>
      </p:sp>
      <p:sp>
        <p:nvSpPr>
          <p:cNvPr id="8" name="Rectangle 7">
            <a:extLst>
              <a:ext uri="{FF2B5EF4-FFF2-40B4-BE49-F238E27FC236}">
                <a16:creationId xmlns:a16="http://schemas.microsoft.com/office/drawing/2014/main" id="{B601B577-A2C1-D5B7-4F9E-26DA6D03FA2C}"/>
              </a:ext>
            </a:extLst>
          </p:cNvPr>
          <p:cNvSpPr/>
          <p:nvPr/>
        </p:nvSpPr>
        <p:spPr>
          <a:xfrm>
            <a:off x="2956559" y="656337"/>
            <a:ext cx="9060874" cy="3413758"/>
          </a:xfrm>
          <a:prstGeom prst="rect">
            <a:avLst/>
          </a:prstGeom>
          <a:solidFill>
            <a:schemeClr val="accent6">
              <a:lumMod val="40000"/>
              <a:lumOff val="60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0" name="TextBox 9">
            <a:extLst>
              <a:ext uri="{FF2B5EF4-FFF2-40B4-BE49-F238E27FC236}">
                <a16:creationId xmlns:a16="http://schemas.microsoft.com/office/drawing/2014/main" id="{EAC32687-F395-C06E-0F11-DA286A51105D}"/>
              </a:ext>
            </a:extLst>
          </p:cNvPr>
          <p:cNvSpPr txBox="1"/>
          <p:nvPr/>
        </p:nvSpPr>
        <p:spPr>
          <a:xfrm>
            <a:off x="3167827" y="838141"/>
            <a:ext cx="8549638" cy="3139321"/>
          </a:xfrm>
          <a:prstGeom prst="rect">
            <a:avLst/>
          </a:prstGeom>
          <a:noFill/>
        </p:spPr>
        <p:txBody>
          <a:bodyPr wrap="square" rtlCol="0">
            <a:spAutoFit/>
          </a:bodyPr>
          <a:lstStyle/>
          <a:p>
            <a:r>
              <a:rPr lang="en-US" b="1" dirty="0"/>
              <a:t>BIO:</a:t>
            </a:r>
            <a:endParaRPr lang="en-US" dirty="0"/>
          </a:p>
          <a:p>
            <a:r>
              <a:rPr lang="en-US" dirty="0"/>
              <a:t>Kailash is a 45-year-old mechanic living in a semi-urban area of Yadgir, Karnataka. When his daughter fell seriously ill, the doctor recommended a CT scan, but he struggled to find a nearby diagnostic center. After diagnosis, she was found to have a kidney infection and was referred to a city hospital. Krishna was confused about which hospital to visit, which department to approach, and how to proceed, causing delays in treatment.</a:t>
            </a:r>
          </a:p>
          <a:p>
            <a:r>
              <a:rPr lang="en-US" dirty="0"/>
              <a:t>He needs a simple, unified healthcare solution that can help him understand medical conditions, guide him step-by-step, recommend the right hospitals and services, and support him in his local language.</a:t>
            </a:r>
          </a:p>
          <a:p>
            <a:endParaRPr lang="en-US" dirty="0"/>
          </a:p>
        </p:txBody>
      </p:sp>
      <p:sp>
        <p:nvSpPr>
          <p:cNvPr id="12" name="Rectangle 11">
            <a:extLst>
              <a:ext uri="{FF2B5EF4-FFF2-40B4-BE49-F238E27FC236}">
                <a16:creationId xmlns:a16="http://schemas.microsoft.com/office/drawing/2014/main" id="{DBE6EFDC-E0EB-E0FB-70BE-5C51E9CA2A2B}"/>
              </a:ext>
            </a:extLst>
          </p:cNvPr>
          <p:cNvSpPr/>
          <p:nvPr/>
        </p:nvSpPr>
        <p:spPr>
          <a:xfrm>
            <a:off x="474535" y="4206242"/>
            <a:ext cx="5135878" cy="173736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DECD8CEE-999F-4E82-3965-90CA3E41EEFB}"/>
              </a:ext>
            </a:extLst>
          </p:cNvPr>
          <p:cNvSpPr txBox="1"/>
          <p:nvPr/>
        </p:nvSpPr>
        <p:spPr>
          <a:xfrm>
            <a:off x="915098" y="4206242"/>
            <a:ext cx="4739640" cy="2031325"/>
          </a:xfrm>
          <a:prstGeom prst="rect">
            <a:avLst/>
          </a:prstGeom>
          <a:noFill/>
        </p:spPr>
        <p:txBody>
          <a:bodyPr wrap="square" rtlCol="0">
            <a:spAutoFit/>
          </a:bodyPr>
          <a:lstStyle/>
          <a:p>
            <a:pPr lvl="0" eaLnBrk="0" fontAlgn="base" hangingPunct="0">
              <a:spcBef>
                <a:spcPct val="0"/>
              </a:spcBef>
              <a:spcAft>
                <a:spcPct val="0"/>
              </a:spcAft>
            </a:pPr>
            <a:r>
              <a:rPr lang="en-US" altLang="en-US" b="1" dirty="0">
                <a:latin typeface="Arial" panose="020B0604020202020204" pitchFamily="34" charset="0"/>
              </a:rPr>
              <a:t>Goals:</a:t>
            </a:r>
          </a:p>
          <a:p>
            <a:pPr lvl="0" eaLnBrk="0" fontAlgn="base" hangingPunct="0">
              <a:spcBef>
                <a:spcPct val="0"/>
              </a:spcBef>
              <a:spcAft>
                <a:spcPct val="0"/>
              </a:spcAft>
              <a:buFontTx/>
              <a:buChar char="•"/>
            </a:pPr>
            <a:r>
              <a:rPr lang="en-US" altLang="en-US" dirty="0">
                <a:latin typeface="Arial" panose="020B0604020202020204" pitchFamily="34" charset="0"/>
              </a:rPr>
              <a:t>Get the right treatment quickly for his family. </a:t>
            </a:r>
          </a:p>
          <a:p>
            <a:pPr lvl="0" eaLnBrk="0" fontAlgn="base" hangingPunct="0">
              <a:spcBef>
                <a:spcPct val="0"/>
              </a:spcBef>
              <a:spcAft>
                <a:spcPct val="0"/>
              </a:spcAft>
              <a:buFontTx/>
              <a:buChar char="•"/>
            </a:pPr>
            <a:r>
              <a:rPr lang="en-US" altLang="en-US" dirty="0">
                <a:latin typeface="Arial" panose="020B0604020202020204" pitchFamily="34" charset="0"/>
              </a:rPr>
              <a:t>Understand medical conditions and next steps clearly. </a:t>
            </a:r>
          </a:p>
          <a:p>
            <a:pPr lvl="0" eaLnBrk="0" fontAlgn="base" hangingPunct="0">
              <a:spcBef>
                <a:spcPct val="0"/>
              </a:spcBef>
              <a:spcAft>
                <a:spcPct val="0"/>
              </a:spcAft>
              <a:buFontTx/>
              <a:buChar char="•"/>
            </a:pPr>
            <a:r>
              <a:rPr lang="en-US" altLang="en-US" dirty="0">
                <a:latin typeface="Arial" panose="020B0604020202020204" pitchFamily="34" charset="0"/>
              </a:rPr>
              <a:t>Find reliable hospitals and diagnostic centers nearby. </a:t>
            </a:r>
          </a:p>
          <a:p>
            <a:endParaRPr lang="en-US" dirty="0"/>
          </a:p>
        </p:txBody>
      </p:sp>
      <p:sp>
        <p:nvSpPr>
          <p:cNvPr id="15" name="Rectangle 14">
            <a:extLst>
              <a:ext uri="{FF2B5EF4-FFF2-40B4-BE49-F238E27FC236}">
                <a16:creationId xmlns:a16="http://schemas.microsoft.com/office/drawing/2014/main" id="{EB599175-F9BC-8788-A411-FA1229A9C764}"/>
              </a:ext>
            </a:extLst>
          </p:cNvPr>
          <p:cNvSpPr/>
          <p:nvPr/>
        </p:nvSpPr>
        <p:spPr>
          <a:xfrm>
            <a:off x="5654738" y="4206242"/>
            <a:ext cx="6247702" cy="173736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C6A332C6-DADD-29D3-74B5-036B8DE8C2F9}"/>
              </a:ext>
            </a:extLst>
          </p:cNvPr>
          <p:cNvSpPr txBox="1"/>
          <p:nvPr/>
        </p:nvSpPr>
        <p:spPr>
          <a:xfrm>
            <a:off x="5819585" y="4221482"/>
            <a:ext cx="5897880" cy="1754326"/>
          </a:xfrm>
          <a:prstGeom prst="rect">
            <a:avLst/>
          </a:prstGeom>
          <a:noFill/>
        </p:spPr>
        <p:txBody>
          <a:bodyPr wrap="square" rtlCol="0">
            <a:spAutoFit/>
          </a:bodyPr>
          <a:lstStyle/>
          <a:p>
            <a:r>
              <a:rPr lang="en-US" b="1" dirty="0"/>
              <a:t>Frustrations</a:t>
            </a:r>
          </a:p>
          <a:p>
            <a:pPr marL="285750" indent="-285750">
              <a:buFont typeface="Arial" panose="020B0604020202020204" pitchFamily="34" charset="0"/>
              <a:buChar char="•"/>
            </a:pPr>
            <a:r>
              <a:rPr lang="en-US" dirty="0"/>
              <a:t>Difficulty in finding nearby diagnostic centers . </a:t>
            </a:r>
          </a:p>
          <a:p>
            <a:pPr marL="285750" indent="-285750">
              <a:buFont typeface="Arial" panose="020B0604020202020204" pitchFamily="34" charset="0"/>
              <a:buChar char="•"/>
            </a:pPr>
            <a:r>
              <a:rPr lang="en-US" dirty="0"/>
              <a:t>Lack of awareness about hospitals and departments.</a:t>
            </a:r>
          </a:p>
          <a:p>
            <a:pPr marL="285750" indent="-285750">
              <a:buFont typeface="Arial" panose="020B0604020202020204" pitchFamily="34" charset="0"/>
              <a:buChar char="•"/>
            </a:pPr>
            <a:r>
              <a:rPr lang="en-US" dirty="0"/>
              <a:t>Confusion due to complex medical terms.</a:t>
            </a:r>
          </a:p>
          <a:p>
            <a:pPr marL="285750" indent="-285750">
              <a:buFont typeface="Arial" panose="020B0604020202020204" pitchFamily="34" charset="0"/>
              <a:buChar char="•"/>
            </a:pPr>
            <a:r>
              <a:rPr lang="en-US" dirty="0"/>
              <a:t>Delay in treatment due to lack of guidance.</a:t>
            </a:r>
          </a:p>
          <a:p>
            <a:endParaRPr lang="en-US" dirty="0"/>
          </a:p>
        </p:txBody>
      </p:sp>
      <p:sp>
        <p:nvSpPr>
          <p:cNvPr id="17" name="Rectangle 16">
            <a:extLst>
              <a:ext uri="{FF2B5EF4-FFF2-40B4-BE49-F238E27FC236}">
                <a16:creationId xmlns:a16="http://schemas.microsoft.com/office/drawing/2014/main" id="{F72FAA05-6F70-BEEA-434D-09C4A34959E1}"/>
              </a:ext>
            </a:extLst>
          </p:cNvPr>
          <p:cNvSpPr/>
          <p:nvPr/>
        </p:nvSpPr>
        <p:spPr>
          <a:xfrm>
            <a:off x="174567" y="700923"/>
            <a:ext cx="2518725" cy="272807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130D43E-B631-32E2-F3DF-5A5A119B2BC3}"/>
              </a:ext>
            </a:extLst>
          </p:cNvPr>
          <p:cNvSpPr txBox="1"/>
          <p:nvPr/>
        </p:nvSpPr>
        <p:spPr>
          <a:xfrm>
            <a:off x="696190" y="3520562"/>
            <a:ext cx="2108644" cy="461665"/>
          </a:xfrm>
          <a:prstGeom prst="rect">
            <a:avLst/>
          </a:prstGeom>
          <a:noFill/>
        </p:spPr>
        <p:txBody>
          <a:bodyPr wrap="square" rtlCol="0">
            <a:spAutoFit/>
          </a:bodyPr>
          <a:lstStyle/>
          <a:p>
            <a:r>
              <a:rPr lang="en-US" sz="2400" b="1" dirty="0"/>
              <a:t>Kailash</a:t>
            </a:r>
          </a:p>
        </p:txBody>
      </p:sp>
      <p:pic>
        <p:nvPicPr>
          <p:cNvPr id="21" name="Picture 20">
            <a:extLst>
              <a:ext uri="{FF2B5EF4-FFF2-40B4-BE49-F238E27FC236}">
                <a16:creationId xmlns:a16="http://schemas.microsoft.com/office/drawing/2014/main" id="{23F0656C-1A72-D563-B3EE-7E16E1E268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1" y="700922"/>
            <a:ext cx="2651063" cy="2819640"/>
          </a:xfrm>
          <a:prstGeom prst="rect">
            <a:avLst/>
          </a:prstGeom>
        </p:spPr>
      </p:pic>
    </p:spTree>
    <p:extLst>
      <p:ext uri="{BB962C8B-B14F-4D97-AF65-F5344CB8AC3E}">
        <p14:creationId xmlns:p14="http://schemas.microsoft.com/office/powerpoint/2010/main" val="880199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C085C-BD70-8489-0DED-7DD399C3CF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8B59A7-6445-655A-5B64-65295C739145}"/>
              </a:ext>
            </a:extLst>
          </p:cNvPr>
          <p:cNvSpPr>
            <a:spLocks noGrp="1"/>
          </p:cNvSpPr>
          <p:nvPr>
            <p:ph type="title"/>
          </p:nvPr>
        </p:nvSpPr>
        <p:spPr>
          <a:xfrm>
            <a:off x="106681" y="0"/>
            <a:ext cx="4084320" cy="589957"/>
          </a:xfrm>
        </p:spPr>
        <p:txBody>
          <a:bodyPr/>
          <a:lstStyle/>
          <a:p>
            <a:r>
              <a:rPr lang="en-US" dirty="0">
                <a:solidFill>
                  <a:schemeClr val="tx1"/>
                </a:solidFill>
                <a:ea typeface="Calibri"/>
                <a:cs typeface="Calibri"/>
              </a:rPr>
              <a:t>Customer Persona (CP)</a:t>
            </a:r>
            <a:endParaRPr lang="en-US" dirty="0">
              <a:solidFill>
                <a:schemeClr val="tx1"/>
              </a:solidFill>
            </a:endParaRPr>
          </a:p>
        </p:txBody>
      </p:sp>
      <p:sp>
        <p:nvSpPr>
          <p:cNvPr id="8" name="Rectangle 7">
            <a:extLst>
              <a:ext uri="{FF2B5EF4-FFF2-40B4-BE49-F238E27FC236}">
                <a16:creationId xmlns:a16="http://schemas.microsoft.com/office/drawing/2014/main" id="{ABAC45EA-A972-7376-41C7-62013DEBDCB0}"/>
              </a:ext>
            </a:extLst>
          </p:cNvPr>
          <p:cNvSpPr/>
          <p:nvPr/>
        </p:nvSpPr>
        <p:spPr>
          <a:xfrm>
            <a:off x="2956559" y="656337"/>
            <a:ext cx="9060874" cy="3413758"/>
          </a:xfrm>
          <a:prstGeom prst="rect">
            <a:avLst/>
          </a:prstGeom>
          <a:solidFill>
            <a:schemeClr val="accent6">
              <a:lumMod val="40000"/>
              <a:lumOff val="60000"/>
            </a:schemeClr>
          </a:solidFill>
          <a:ln>
            <a:solidFill>
              <a:schemeClr val="tx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10" name="TextBox 9">
            <a:extLst>
              <a:ext uri="{FF2B5EF4-FFF2-40B4-BE49-F238E27FC236}">
                <a16:creationId xmlns:a16="http://schemas.microsoft.com/office/drawing/2014/main" id="{2A3DC716-EC67-566A-ECEE-75E92AAABE9C}"/>
              </a:ext>
            </a:extLst>
          </p:cNvPr>
          <p:cNvSpPr txBox="1"/>
          <p:nvPr/>
        </p:nvSpPr>
        <p:spPr>
          <a:xfrm>
            <a:off x="3167827" y="838141"/>
            <a:ext cx="8549638" cy="3416320"/>
          </a:xfrm>
          <a:prstGeom prst="rect">
            <a:avLst/>
          </a:prstGeom>
          <a:noFill/>
        </p:spPr>
        <p:txBody>
          <a:bodyPr wrap="square" rtlCol="0">
            <a:spAutoFit/>
          </a:bodyPr>
          <a:lstStyle/>
          <a:p>
            <a:r>
              <a:rPr lang="en-US" b="1" dirty="0"/>
              <a:t>BIO:</a:t>
            </a:r>
          </a:p>
          <a:p>
            <a:endParaRPr lang="en-US" dirty="0"/>
          </a:p>
          <a:p>
            <a:r>
              <a:rPr lang="en-US" dirty="0"/>
              <a:t>Ramesh is a 52-year-old farmer from a rural area near Bengaluru Rural, Karnataka. One day, his wife suddenly fell very weak, and the doctor advised immediate blood transfusion and hospital care. Ramesh felt helpless as he did not know where to find a blood bank or how to arrange an ambulance quickly.</a:t>
            </a:r>
          </a:p>
          <a:p>
            <a:r>
              <a:rPr lang="en-US" dirty="0"/>
              <a:t>He asked people around him, but got different suggestions, which caused confusion and delay. This experience made him realize the need for a simple system that can guide him during emergencies, help find blood banks, ambulance services, and provide clear steps in his local language.</a:t>
            </a:r>
          </a:p>
          <a:p>
            <a:endParaRPr lang="en-US" dirty="0"/>
          </a:p>
          <a:p>
            <a:endParaRPr lang="en-US" dirty="0"/>
          </a:p>
        </p:txBody>
      </p:sp>
      <p:sp>
        <p:nvSpPr>
          <p:cNvPr id="12" name="Rectangle 11">
            <a:extLst>
              <a:ext uri="{FF2B5EF4-FFF2-40B4-BE49-F238E27FC236}">
                <a16:creationId xmlns:a16="http://schemas.microsoft.com/office/drawing/2014/main" id="{28E9DEA9-E40B-EBBF-CA25-E653D190A7B5}"/>
              </a:ext>
            </a:extLst>
          </p:cNvPr>
          <p:cNvSpPr/>
          <p:nvPr/>
        </p:nvSpPr>
        <p:spPr>
          <a:xfrm>
            <a:off x="474535" y="4206242"/>
            <a:ext cx="5135878" cy="173736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2B15C059-8F01-8D43-6EF3-D50FEF839932}"/>
              </a:ext>
            </a:extLst>
          </p:cNvPr>
          <p:cNvSpPr txBox="1"/>
          <p:nvPr/>
        </p:nvSpPr>
        <p:spPr>
          <a:xfrm>
            <a:off x="915098" y="4206242"/>
            <a:ext cx="4739640" cy="1754326"/>
          </a:xfrm>
          <a:prstGeom prst="rect">
            <a:avLst/>
          </a:prstGeom>
          <a:noFill/>
        </p:spPr>
        <p:txBody>
          <a:bodyPr wrap="square" rtlCol="0">
            <a:spAutoFit/>
          </a:bodyPr>
          <a:lstStyle/>
          <a:p>
            <a:pPr lvl="0" eaLnBrk="0" fontAlgn="base" hangingPunct="0">
              <a:spcBef>
                <a:spcPct val="0"/>
              </a:spcBef>
              <a:spcAft>
                <a:spcPct val="0"/>
              </a:spcAft>
            </a:pPr>
            <a:r>
              <a:rPr lang="en-US" altLang="en-US" b="1" dirty="0">
                <a:latin typeface="Arial" panose="020B0604020202020204" pitchFamily="34" charset="0"/>
              </a:rPr>
              <a:t>Goals:</a:t>
            </a:r>
          </a:p>
          <a:p>
            <a:pPr lvl="0" eaLnBrk="0" fontAlgn="base" hangingPunct="0">
              <a:spcBef>
                <a:spcPct val="0"/>
              </a:spcBef>
              <a:spcAft>
                <a:spcPct val="0"/>
              </a:spcAft>
            </a:pPr>
            <a:endParaRPr lang="en-US" b="1" dirty="0"/>
          </a:p>
          <a:p>
            <a:pPr marL="285750" indent="-285750">
              <a:buFont typeface="Arial" panose="020B0604020202020204" pitchFamily="34" charset="0"/>
              <a:buChar char="•"/>
            </a:pPr>
            <a:r>
              <a:rPr lang="en-US" dirty="0"/>
              <a:t>Get quick help during emergencies.</a:t>
            </a:r>
          </a:p>
          <a:p>
            <a:pPr marL="285750" indent="-285750">
              <a:buFont typeface="Arial" panose="020B0604020202020204" pitchFamily="34" charset="0"/>
              <a:buChar char="•"/>
            </a:pPr>
            <a:r>
              <a:rPr lang="en-US" dirty="0"/>
              <a:t>Find blood banks and ambulance services easily.</a:t>
            </a:r>
          </a:p>
          <a:p>
            <a:endParaRPr lang="en-US" dirty="0"/>
          </a:p>
        </p:txBody>
      </p:sp>
      <p:sp>
        <p:nvSpPr>
          <p:cNvPr id="15" name="Rectangle 14">
            <a:extLst>
              <a:ext uri="{FF2B5EF4-FFF2-40B4-BE49-F238E27FC236}">
                <a16:creationId xmlns:a16="http://schemas.microsoft.com/office/drawing/2014/main" id="{219F4976-8E83-9C9D-5A7F-8B86A8267D06}"/>
              </a:ext>
            </a:extLst>
          </p:cNvPr>
          <p:cNvSpPr/>
          <p:nvPr/>
        </p:nvSpPr>
        <p:spPr>
          <a:xfrm>
            <a:off x="5681031" y="4221482"/>
            <a:ext cx="6247702" cy="1737360"/>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3BD8C0F-A086-6D86-C9B5-CED25AF3BCBD}"/>
              </a:ext>
            </a:extLst>
          </p:cNvPr>
          <p:cNvSpPr txBox="1"/>
          <p:nvPr/>
        </p:nvSpPr>
        <p:spPr>
          <a:xfrm>
            <a:off x="5819585" y="4251899"/>
            <a:ext cx="5897880" cy="2308324"/>
          </a:xfrm>
          <a:prstGeom prst="rect">
            <a:avLst/>
          </a:prstGeom>
          <a:noFill/>
        </p:spPr>
        <p:txBody>
          <a:bodyPr wrap="square" rtlCol="0">
            <a:spAutoFit/>
          </a:bodyPr>
          <a:lstStyle/>
          <a:p>
            <a:r>
              <a:rPr lang="en-US" b="1" dirty="0"/>
              <a:t>Frustrations:</a:t>
            </a:r>
          </a:p>
          <a:p>
            <a:endParaRPr lang="en-US" dirty="0"/>
          </a:p>
          <a:p>
            <a:pPr marL="285750" indent="-285750">
              <a:buFont typeface="Arial" panose="020B0604020202020204" pitchFamily="34" charset="0"/>
              <a:buChar char="•"/>
            </a:pPr>
            <a:r>
              <a:rPr lang="en-US" altLang="en-US" dirty="0">
                <a:latin typeface="Arial" panose="020B0604020202020204" pitchFamily="34" charset="0"/>
              </a:rPr>
              <a:t>Confusion and panic during emergencies.</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Lack of information about nearby services. </a:t>
            </a: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Delay due to dependence on others. </a:t>
            </a:r>
          </a:p>
          <a:p>
            <a:endParaRPr lang="en-US" dirty="0"/>
          </a:p>
          <a:p>
            <a:endParaRPr lang="en-US" dirty="0"/>
          </a:p>
          <a:p>
            <a:endParaRPr lang="en-US" dirty="0"/>
          </a:p>
        </p:txBody>
      </p:sp>
      <p:sp>
        <p:nvSpPr>
          <p:cNvPr id="17" name="Rectangle 16">
            <a:extLst>
              <a:ext uri="{FF2B5EF4-FFF2-40B4-BE49-F238E27FC236}">
                <a16:creationId xmlns:a16="http://schemas.microsoft.com/office/drawing/2014/main" id="{37801C7C-484F-40E5-6BB1-D26293F46559}"/>
              </a:ext>
            </a:extLst>
          </p:cNvPr>
          <p:cNvSpPr/>
          <p:nvPr/>
        </p:nvSpPr>
        <p:spPr>
          <a:xfrm>
            <a:off x="174567" y="700923"/>
            <a:ext cx="2518725" cy="2728078"/>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06EE808B-C7F5-8FF7-01C5-7FD5F3EAD4A1}"/>
              </a:ext>
            </a:extLst>
          </p:cNvPr>
          <p:cNvSpPr txBox="1"/>
          <p:nvPr/>
        </p:nvSpPr>
        <p:spPr>
          <a:xfrm>
            <a:off x="696190" y="3520562"/>
            <a:ext cx="2108644" cy="461665"/>
          </a:xfrm>
          <a:prstGeom prst="rect">
            <a:avLst/>
          </a:prstGeom>
          <a:noFill/>
        </p:spPr>
        <p:txBody>
          <a:bodyPr wrap="square" rtlCol="0">
            <a:spAutoFit/>
          </a:bodyPr>
          <a:lstStyle/>
          <a:p>
            <a:r>
              <a:rPr lang="en-US" sz="2400" b="1" dirty="0"/>
              <a:t>Ramesh</a:t>
            </a:r>
          </a:p>
        </p:txBody>
      </p:sp>
      <p:pic>
        <p:nvPicPr>
          <p:cNvPr id="25" name="Picture 24">
            <a:extLst>
              <a:ext uri="{FF2B5EF4-FFF2-40B4-BE49-F238E27FC236}">
                <a16:creationId xmlns:a16="http://schemas.microsoft.com/office/drawing/2014/main" id="{8F65F7ED-5278-0AE8-DF1A-92180D26D7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619" y="656337"/>
            <a:ext cx="2617673" cy="2796151"/>
          </a:xfrm>
          <a:prstGeom prst="rect">
            <a:avLst/>
          </a:prstGeom>
        </p:spPr>
      </p:pic>
    </p:spTree>
    <p:extLst>
      <p:ext uri="{BB962C8B-B14F-4D97-AF65-F5344CB8AC3E}">
        <p14:creationId xmlns:p14="http://schemas.microsoft.com/office/powerpoint/2010/main" val="1062980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5D599-550D-934B-834C-4B89AA626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EFA05-49D5-8965-5B47-01BD88A22691}"/>
              </a:ext>
            </a:extLst>
          </p:cNvPr>
          <p:cNvSpPr>
            <a:spLocks noGrp="1"/>
          </p:cNvSpPr>
          <p:nvPr>
            <p:ph type="title"/>
          </p:nvPr>
        </p:nvSpPr>
        <p:spPr>
          <a:xfrm>
            <a:off x="756360" y="45718"/>
            <a:ext cx="6211927" cy="838202"/>
          </a:xfrm>
        </p:spPr>
        <p:txBody>
          <a:bodyPr/>
          <a:lstStyle/>
          <a:p>
            <a:r>
              <a:rPr lang="en-US" dirty="0">
                <a:ea typeface="Calibri"/>
                <a:cs typeface="Calibri"/>
              </a:rPr>
              <a:t> </a:t>
            </a:r>
            <a:r>
              <a:rPr lang="en-US" b="1" dirty="0">
                <a:solidFill>
                  <a:schemeClr val="tx1"/>
                </a:solidFill>
                <a:ea typeface="Calibri"/>
                <a:cs typeface="Calibri"/>
              </a:rPr>
              <a:t>Product USP</a:t>
            </a:r>
            <a:endParaRPr lang="en-US" b="1" dirty="0">
              <a:solidFill>
                <a:schemeClr val="tx1"/>
              </a:solidFill>
            </a:endParaRPr>
          </a:p>
        </p:txBody>
      </p:sp>
      <p:sp>
        <p:nvSpPr>
          <p:cNvPr id="3" name="Content Placeholder 2">
            <a:extLst>
              <a:ext uri="{FF2B5EF4-FFF2-40B4-BE49-F238E27FC236}">
                <a16:creationId xmlns:a16="http://schemas.microsoft.com/office/drawing/2014/main" id="{1ED32972-71CF-5F3C-FC9D-E36A0D2D508F}"/>
              </a:ext>
            </a:extLst>
          </p:cNvPr>
          <p:cNvSpPr>
            <a:spLocks noGrp="1"/>
          </p:cNvSpPr>
          <p:nvPr>
            <p:ph type="body" idx="1"/>
          </p:nvPr>
        </p:nvSpPr>
        <p:spPr>
          <a:xfrm>
            <a:off x="405840" y="1082040"/>
            <a:ext cx="10801201" cy="4892040"/>
          </a:xfrm>
        </p:spPr>
        <p:txBody>
          <a:bodyPr spcFirstLastPara="1" vert="horz" wrap="square" lIns="121920" tIns="60960" rIns="121920" bIns="60960" rtlCol="0" anchor="t" anchorCtr="0">
            <a:normAutofit/>
          </a:bodyPr>
          <a:lstStyle/>
          <a:p>
            <a:pPr>
              <a:lnSpc>
                <a:spcPct val="100000"/>
              </a:lnSpc>
              <a:buFont typeface="Arial" panose="020B0604020202020204" pitchFamily="34" charset="0"/>
              <a:buChar char="•"/>
            </a:pPr>
            <a:r>
              <a:rPr lang="en-US" b="1" dirty="0">
                <a:solidFill>
                  <a:schemeClr val="tx1"/>
                </a:solidFill>
              </a:rPr>
              <a:t>AI-driven symptom analysis</a:t>
            </a:r>
            <a:r>
              <a:rPr lang="en-US" dirty="0">
                <a:solidFill>
                  <a:schemeClr val="tx1"/>
                </a:solidFill>
              </a:rPr>
              <a:t> that provides personalized healthcare recommendations, not just general search results.</a:t>
            </a:r>
          </a:p>
          <a:p>
            <a:pPr marL="76200" indent="0">
              <a:lnSpc>
                <a:spcPct val="100000"/>
              </a:lnSpc>
              <a:buNone/>
            </a:pPr>
            <a:endParaRPr lang="en-US" dirty="0">
              <a:solidFill>
                <a:schemeClr val="tx1"/>
              </a:solidFill>
            </a:endParaRPr>
          </a:p>
          <a:p>
            <a:pPr>
              <a:lnSpc>
                <a:spcPct val="100000"/>
              </a:lnSpc>
              <a:buFont typeface="Arial" panose="020B0604020202020204" pitchFamily="34" charset="0"/>
              <a:buChar char="•"/>
            </a:pPr>
            <a:r>
              <a:rPr lang="en-US" b="1" dirty="0">
                <a:solidFill>
                  <a:schemeClr val="tx1"/>
                </a:solidFill>
              </a:rPr>
              <a:t>All-in-one healthcare platform</a:t>
            </a:r>
            <a:r>
              <a:rPr lang="en-US" dirty="0">
                <a:solidFill>
                  <a:schemeClr val="tx1"/>
                </a:solidFill>
              </a:rPr>
              <a:t> combining hospital, diagnostic center, ambulance, and blood bank services.</a:t>
            </a:r>
          </a:p>
          <a:p>
            <a:pPr marL="76200" indent="0">
              <a:lnSpc>
                <a:spcPct val="100000"/>
              </a:lnSpc>
              <a:buNone/>
            </a:pPr>
            <a:endParaRPr lang="en-US" dirty="0">
              <a:solidFill>
                <a:schemeClr val="tx1"/>
              </a:solidFill>
            </a:endParaRPr>
          </a:p>
          <a:p>
            <a:pPr>
              <a:lnSpc>
                <a:spcPct val="100000"/>
              </a:lnSpc>
              <a:buFont typeface="Arial" panose="020B0604020202020204" pitchFamily="34" charset="0"/>
              <a:buChar char="•"/>
            </a:pPr>
            <a:r>
              <a:rPr lang="en-US" b="1" dirty="0">
                <a:solidFill>
                  <a:schemeClr val="tx1"/>
                </a:solidFill>
              </a:rPr>
              <a:t>Location-aware and real-time guidance</a:t>
            </a:r>
            <a:r>
              <a:rPr lang="en-US" dirty="0">
                <a:solidFill>
                  <a:schemeClr val="tx1"/>
                </a:solidFill>
              </a:rPr>
              <a:t> for quick decision-making, especially during emergencies.</a:t>
            </a:r>
          </a:p>
          <a:p>
            <a:pPr marL="76200" indent="0">
              <a:lnSpc>
                <a:spcPct val="100000"/>
              </a:lnSpc>
              <a:buNone/>
            </a:pPr>
            <a:r>
              <a:rPr lang="en-US" dirty="0">
                <a:solidFill>
                  <a:schemeClr val="tx1"/>
                </a:solidFill>
              </a:rPr>
              <a:t> </a:t>
            </a:r>
          </a:p>
          <a:p>
            <a:pPr>
              <a:lnSpc>
                <a:spcPct val="100000"/>
              </a:lnSpc>
              <a:buFont typeface="Arial" panose="020B0604020202020204" pitchFamily="34" charset="0"/>
              <a:buChar char="•"/>
            </a:pPr>
            <a:r>
              <a:rPr lang="en-US" b="1" dirty="0">
                <a:solidFill>
                  <a:schemeClr val="tx1"/>
                </a:solidFill>
              </a:rPr>
              <a:t>Simple, local-language supported interface</a:t>
            </a:r>
            <a:r>
              <a:rPr lang="en-US" dirty="0">
                <a:solidFill>
                  <a:schemeClr val="tx1"/>
                </a:solidFill>
              </a:rPr>
              <a:t> designed for rural and semi-urban users. </a:t>
            </a:r>
          </a:p>
          <a:p>
            <a:pPr marL="342900" indent="-342900">
              <a:spcBef>
                <a:spcPts val="27"/>
              </a:spcBef>
              <a:buFont typeface="Arial" panose="020B0604020202020204" pitchFamily="34" charset="0"/>
              <a:buChar char="•"/>
            </a:pPr>
            <a:endParaRPr lang="en-US" dirty="0"/>
          </a:p>
          <a:p>
            <a:pPr marL="0" indent="0">
              <a:spcBef>
                <a:spcPts val="27"/>
              </a:spcBef>
              <a:buNone/>
            </a:pPr>
            <a:endParaRPr lang="en-US" dirty="0"/>
          </a:p>
        </p:txBody>
      </p:sp>
    </p:spTree>
    <p:extLst>
      <p:ext uri="{BB962C8B-B14F-4D97-AF65-F5344CB8AC3E}">
        <p14:creationId xmlns:p14="http://schemas.microsoft.com/office/powerpoint/2010/main" val="10766721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1565F-E02D-F94D-F107-CD2878B802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343AFC-E9B9-CA66-D2C9-C42DE2F1DFA4}"/>
              </a:ext>
            </a:extLst>
          </p:cNvPr>
          <p:cNvSpPr>
            <a:spLocks noGrp="1"/>
          </p:cNvSpPr>
          <p:nvPr>
            <p:ph type="title"/>
          </p:nvPr>
        </p:nvSpPr>
        <p:spPr>
          <a:xfrm>
            <a:off x="497280" y="136706"/>
            <a:ext cx="7045685" cy="838202"/>
          </a:xfrm>
        </p:spPr>
        <p:txBody>
          <a:bodyPr/>
          <a:lstStyle/>
          <a:p>
            <a:r>
              <a:rPr lang="en-US" dirty="0">
                <a:ea typeface="Calibri"/>
                <a:cs typeface="Calibri"/>
              </a:rPr>
              <a:t> </a:t>
            </a:r>
            <a:r>
              <a:rPr lang="en-US" b="1" dirty="0">
                <a:solidFill>
                  <a:schemeClr val="tx1"/>
                </a:solidFill>
                <a:ea typeface="Calibri"/>
                <a:cs typeface="Calibri"/>
              </a:rPr>
              <a:t>Use Cases &amp; High level Requirements</a:t>
            </a:r>
            <a:endParaRPr lang="en-US" b="1" dirty="0">
              <a:solidFill>
                <a:schemeClr val="tx1"/>
              </a:solidFill>
            </a:endParaRPr>
          </a:p>
        </p:txBody>
      </p:sp>
      <p:sp>
        <p:nvSpPr>
          <p:cNvPr id="3" name="Content Placeholder 2">
            <a:extLst>
              <a:ext uri="{FF2B5EF4-FFF2-40B4-BE49-F238E27FC236}">
                <a16:creationId xmlns:a16="http://schemas.microsoft.com/office/drawing/2014/main" id="{CCFAADE7-0B30-77FD-7C8B-41A1B856FBAA}"/>
              </a:ext>
            </a:extLst>
          </p:cNvPr>
          <p:cNvSpPr>
            <a:spLocks noGrp="1"/>
          </p:cNvSpPr>
          <p:nvPr>
            <p:ph type="body" idx="1"/>
          </p:nvPr>
        </p:nvSpPr>
        <p:spPr>
          <a:xfrm>
            <a:off x="603960" y="963168"/>
            <a:ext cx="5949240" cy="4931664"/>
          </a:xfrm>
        </p:spPr>
        <p:txBody>
          <a:bodyPr spcFirstLastPara="1" vert="horz" wrap="square" lIns="121920" tIns="60960" rIns="121920" bIns="60960" rtlCol="0" anchor="t" anchorCtr="0">
            <a:normAutofit fontScale="85000" lnSpcReduction="20000"/>
          </a:bodyPr>
          <a:lstStyle/>
          <a:p>
            <a:pPr marL="342900" indent="-342900">
              <a:spcBef>
                <a:spcPts val="27"/>
              </a:spcBef>
              <a:buFont typeface="Arial" panose="020B0604020202020204" pitchFamily="34" charset="0"/>
              <a:buChar char="•"/>
            </a:pPr>
            <a:endParaRPr lang="en-US" dirty="0">
              <a:ea typeface="Calibri"/>
              <a:cs typeface="Calibri"/>
            </a:endParaRPr>
          </a:p>
          <a:p>
            <a:pPr marL="76200" indent="0">
              <a:buNone/>
            </a:pPr>
            <a:r>
              <a:rPr lang="en-US" b="1" dirty="0">
                <a:solidFill>
                  <a:schemeClr val="tx1"/>
                </a:solidFill>
              </a:rPr>
              <a:t>1.Symptom-Based Hospital Recommendation</a:t>
            </a:r>
          </a:p>
          <a:p>
            <a:endParaRPr lang="en-US" b="1" dirty="0"/>
          </a:p>
          <a:p>
            <a:pPr>
              <a:lnSpc>
                <a:spcPct val="120000"/>
              </a:lnSpc>
              <a:buFont typeface="Arial" panose="020B0604020202020204" pitchFamily="34" charset="0"/>
              <a:buChar char="•"/>
            </a:pPr>
            <a:r>
              <a:rPr lang="en-US" b="1" dirty="0">
                <a:solidFill>
                  <a:schemeClr val="tx1"/>
                </a:solidFill>
              </a:rPr>
              <a:t>Input:</a:t>
            </a:r>
            <a:r>
              <a:rPr lang="en-US" dirty="0">
                <a:solidFill>
                  <a:schemeClr val="tx1"/>
                </a:solidFill>
              </a:rPr>
              <a:t> User enters symptoms (e.g., fever, pain) </a:t>
            </a:r>
          </a:p>
          <a:p>
            <a:pPr>
              <a:lnSpc>
                <a:spcPct val="120000"/>
              </a:lnSpc>
              <a:buFont typeface="Arial" panose="020B0604020202020204" pitchFamily="34" charset="0"/>
              <a:buChar char="•"/>
            </a:pPr>
            <a:r>
              <a:rPr lang="en-US" b="1" dirty="0">
                <a:solidFill>
                  <a:schemeClr val="tx1"/>
                </a:solidFill>
              </a:rPr>
              <a:t>Output:</a:t>
            </a:r>
            <a:r>
              <a:rPr lang="en-US" dirty="0">
                <a:solidFill>
                  <a:schemeClr val="tx1"/>
                </a:solidFill>
              </a:rPr>
              <a:t> Suggested condition + list of suitable hospitals &amp; specialists </a:t>
            </a:r>
            <a:br>
              <a:rPr lang="en-US" dirty="0"/>
            </a:br>
            <a:endParaRPr lang="en-US" dirty="0"/>
          </a:p>
          <a:p>
            <a:pPr marL="76200" indent="0">
              <a:lnSpc>
                <a:spcPct val="110000"/>
              </a:lnSpc>
              <a:buNone/>
            </a:pPr>
            <a:r>
              <a:rPr lang="en-US" b="1" dirty="0"/>
              <a:t> </a:t>
            </a:r>
            <a:r>
              <a:rPr lang="en-US" b="1" dirty="0">
                <a:solidFill>
                  <a:schemeClr val="tx1"/>
                </a:solidFill>
              </a:rPr>
              <a:t>2.Diagnostic Center Finder</a:t>
            </a:r>
          </a:p>
          <a:p>
            <a:pPr marL="76200" indent="0">
              <a:lnSpc>
                <a:spcPct val="110000"/>
              </a:lnSpc>
              <a:buNone/>
            </a:pPr>
            <a:endParaRPr lang="en-US" b="1" dirty="0">
              <a:solidFill>
                <a:schemeClr val="tx1"/>
              </a:solidFill>
            </a:endParaRPr>
          </a:p>
          <a:p>
            <a:pPr>
              <a:lnSpc>
                <a:spcPct val="110000"/>
              </a:lnSpc>
              <a:buFont typeface="Arial" panose="020B0604020202020204" pitchFamily="34" charset="0"/>
              <a:buChar char="•"/>
            </a:pPr>
            <a:r>
              <a:rPr lang="en-US" b="1" dirty="0">
                <a:solidFill>
                  <a:schemeClr val="tx1"/>
                </a:solidFill>
              </a:rPr>
              <a:t>Input:</a:t>
            </a:r>
            <a:r>
              <a:rPr lang="en-US" dirty="0">
                <a:solidFill>
                  <a:schemeClr val="tx1"/>
                </a:solidFill>
              </a:rPr>
              <a:t> Test required (e.g., CT scan) + location </a:t>
            </a:r>
          </a:p>
          <a:p>
            <a:pPr>
              <a:lnSpc>
                <a:spcPct val="110000"/>
              </a:lnSpc>
              <a:buFont typeface="Arial" panose="020B0604020202020204" pitchFamily="34" charset="0"/>
              <a:buChar char="•"/>
            </a:pPr>
            <a:r>
              <a:rPr lang="en-US" b="1" dirty="0">
                <a:solidFill>
                  <a:schemeClr val="tx1"/>
                </a:solidFill>
              </a:rPr>
              <a:t>Output:</a:t>
            </a:r>
            <a:r>
              <a:rPr lang="en-US" dirty="0">
                <a:solidFill>
                  <a:schemeClr val="tx1"/>
                </a:solidFill>
              </a:rPr>
              <a:t> Nearest diagnostic centers with details (distance, services)</a:t>
            </a:r>
            <a:r>
              <a:rPr lang="en-US" dirty="0"/>
              <a:t> </a:t>
            </a:r>
          </a:p>
          <a:p>
            <a:pPr>
              <a:buFont typeface="Arial" panose="020B0604020202020204" pitchFamily="34" charset="0"/>
              <a:buChar char="•"/>
            </a:pPr>
            <a:endParaRPr lang="en-US" dirty="0"/>
          </a:p>
          <a:p>
            <a:pPr marL="76200" indent="0">
              <a:buNone/>
            </a:pPr>
            <a:r>
              <a:rPr lang="en-US" b="1" dirty="0"/>
              <a:t> </a:t>
            </a:r>
            <a:r>
              <a:rPr lang="en-US" b="1" dirty="0">
                <a:solidFill>
                  <a:schemeClr val="tx1"/>
                </a:solidFill>
              </a:rPr>
              <a:t>3.Emergency Ambulance Locator</a:t>
            </a:r>
          </a:p>
          <a:p>
            <a:pPr marL="76200" indent="0">
              <a:buNone/>
            </a:pPr>
            <a:endParaRPr lang="en-US" b="1" dirty="0">
              <a:solidFill>
                <a:schemeClr val="tx1"/>
              </a:solidFill>
            </a:endParaRPr>
          </a:p>
          <a:p>
            <a:pPr>
              <a:lnSpc>
                <a:spcPct val="110000"/>
              </a:lnSpc>
              <a:buFont typeface="Arial" panose="020B0604020202020204" pitchFamily="34" charset="0"/>
              <a:buChar char="•"/>
            </a:pPr>
            <a:r>
              <a:rPr lang="en-US" b="1" dirty="0">
                <a:solidFill>
                  <a:schemeClr val="tx1"/>
                </a:solidFill>
              </a:rPr>
              <a:t>Input:</a:t>
            </a:r>
            <a:r>
              <a:rPr lang="en-US" dirty="0">
                <a:solidFill>
                  <a:schemeClr val="tx1"/>
                </a:solidFill>
              </a:rPr>
              <a:t> Current location </a:t>
            </a:r>
          </a:p>
          <a:p>
            <a:pPr>
              <a:lnSpc>
                <a:spcPct val="110000"/>
              </a:lnSpc>
              <a:buFont typeface="Arial" panose="020B0604020202020204" pitchFamily="34" charset="0"/>
              <a:buChar char="•"/>
            </a:pPr>
            <a:r>
              <a:rPr lang="en-US" b="1" dirty="0">
                <a:solidFill>
                  <a:schemeClr val="tx1"/>
                </a:solidFill>
              </a:rPr>
              <a:t>Output:</a:t>
            </a:r>
            <a:r>
              <a:rPr lang="en-US" dirty="0">
                <a:solidFill>
                  <a:schemeClr val="tx1"/>
                </a:solidFill>
              </a:rPr>
              <a:t> Nearest available ambulance services with contact details </a:t>
            </a:r>
          </a:p>
          <a:p>
            <a:pPr marL="0" indent="0">
              <a:spcBef>
                <a:spcPts val="27"/>
              </a:spcBef>
              <a:buNone/>
            </a:pPr>
            <a:endParaRPr lang="en-US" dirty="0"/>
          </a:p>
          <a:p>
            <a:pPr marL="0" indent="0">
              <a:spcBef>
                <a:spcPts val="27"/>
              </a:spcBef>
              <a:buNone/>
            </a:pPr>
            <a:endParaRPr lang="en-US" dirty="0"/>
          </a:p>
        </p:txBody>
      </p:sp>
      <p:sp>
        <p:nvSpPr>
          <p:cNvPr id="4" name="TextBox 3">
            <a:extLst>
              <a:ext uri="{FF2B5EF4-FFF2-40B4-BE49-F238E27FC236}">
                <a16:creationId xmlns:a16="http://schemas.microsoft.com/office/drawing/2014/main" id="{E5FD0FB0-60E7-128A-00D3-6958A844EFD1}"/>
              </a:ext>
            </a:extLst>
          </p:cNvPr>
          <p:cNvSpPr txBox="1"/>
          <p:nvPr/>
        </p:nvSpPr>
        <p:spPr>
          <a:xfrm>
            <a:off x="6766560" y="1179576"/>
            <a:ext cx="4541520" cy="4647426"/>
          </a:xfrm>
          <a:prstGeom prst="rect">
            <a:avLst/>
          </a:prstGeom>
          <a:noFill/>
        </p:spPr>
        <p:txBody>
          <a:bodyPr wrap="square" rtlCol="0">
            <a:spAutoFit/>
          </a:bodyPr>
          <a:lstStyle/>
          <a:p>
            <a:endParaRPr lang="en-US" dirty="0"/>
          </a:p>
          <a:p>
            <a:pPr marL="76200" indent="0">
              <a:buNone/>
            </a:pPr>
            <a:r>
              <a:rPr lang="en-US" b="1" dirty="0">
                <a:latin typeface="Roboto Medium" panose="02000000000000000000" pitchFamily="2" charset="0"/>
                <a:ea typeface="Roboto Medium" panose="02000000000000000000" pitchFamily="2" charset="0"/>
                <a:cs typeface="Roboto Medium" panose="02000000000000000000" pitchFamily="2" charset="0"/>
              </a:rPr>
              <a:t>4</a:t>
            </a:r>
            <a:r>
              <a:rPr lang="en-US" sz="2000" b="1" dirty="0">
                <a:latin typeface="Roboto Medium" panose="02000000000000000000" pitchFamily="2" charset="0"/>
                <a:ea typeface="Roboto Medium" panose="02000000000000000000" pitchFamily="2" charset="0"/>
                <a:cs typeface="Roboto Medium" panose="02000000000000000000" pitchFamily="2" charset="0"/>
              </a:rPr>
              <a:t>. Blood Bank Search</a:t>
            </a:r>
          </a:p>
          <a:p>
            <a:pPr marL="76200" indent="0">
              <a:buNone/>
            </a:pPr>
            <a:endParaRPr lang="en-US" sz="2000" b="1" dirty="0">
              <a:latin typeface="Roboto Medium" panose="02000000000000000000" pitchFamily="2" charset="0"/>
              <a:ea typeface="Roboto Medium" panose="02000000000000000000" pitchFamily="2" charset="0"/>
              <a:cs typeface="Roboto Medium" panose="02000000000000000000" pitchFamily="2" charset="0"/>
            </a:endParaRPr>
          </a:p>
          <a:p>
            <a:pPr>
              <a:buFont typeface="Arial" panose="020B0604020202020204" pitchFamily="34" charset="0"/>
              <a:buChar char="•"/>
            </a:pPr>
            <a:r>
              <a:rPr lang="en-US" sz="2000" b="1" dirty="0">
                <a:latin typeface="Roboto Medium" panose="02000000000000000000" pitchFamily="2" charset="0"/>
                <a:ea typeface="Roboto Medium" panose="02000000000000000000" pitchFamily="2" charset="0"/>
                <a:cs typeface="Roboto Medium" panose="02000000000000000000" pitchFamily="2" charset="0"/>
              </a:rPr>
              <a:t>Input:</a:t>
            </a:r>
            <a:r>
              <a:rPr lang="en-US" sz="2000" dirty="0">
                <a:latin typeface="Roboto Medium" panose="02000000000000000000" pitchFamily="2" charset="0"/>
                <a:ea typeface="Roboto Medium" panose="02000000000000000000" pitchFamily="2" charset="0"/>
                <a:cs typeface="Roboto Medium" panose="02000000000000000000" pitchFamily="2" charset="0"/>
              </a:rPr>
              <a:t> Blood group + location </a:t>
            </a:r>
          </a:p>
          <a:p>
            <a:pPr>
              <a:buFont typeface="Arial" panose="020B0604020202020204" pitchFamily="34" charset="0"/>
              <a:buChar char="•"/>
            </a:pPr>
            <a:r>
              <a:rPr lang="en-US" sz="2000" b="1" dirty="0">
                <a:latin typeface="Roboto Medium" panose="02000000000000000000" pitchFamily="2" charset="0"/>
                <a:ea typeface="Roboto Medium" panose="02000000000000000000" pitchFamily="2" charset="0"/>
                <a:cs typeface="Roboto Medium" panose="02000000000000000000" pitchFamily="2" charset="0"/>
              </a:rPr>
              <a:t>Output:</a:t>
            </a:r>
            <a:r>
              <a:rPr lang="en-US" sz="2000" dirty="0">
                <a:latin typeface="Roboto Medium" panose="02000000000000000000" pitchFamily="2" charset="0"/>
                <a:ea typeface="Roboto Medium" panose="02000000000000000000" pitchFamily="2" charset="0"/>
                <a:cs typeface="Roboto Medium" panose="02000000000000000000" pitchFamily="2" charset="0"/>
              </a:rPr>
              <a:t> Nearby blood banks with availability &amp; contact info </a:t>
            </a:r>
          </a:p>
          <a:p>
            <a:br>
              <a:rPr lang="en-US" sz="2000" dirty="0">
                <a:latin typeface="Roboto Medium" panose="02000000000000000000" pitchFamily="2" charset="0"/>
                <a:ea typeface="Roboto Medium" panose="02000000000000000000" pitchFamily="2" charset="0"/>
                <a:cs typeface="Roboto Medium" panose="02000000000000000000" pitchFamily="2" charset="0"/>
              </a:rPr>
            </a:br>
            <a:endParaRPr lang="en-US" sz="2000" dirty="0">
              <a:latin typeface="Roboto Medium" panose="02000000000000000000" pitchFamily="2" charset="0"/>
              <a:ea typeface="Roboto Medium" panose="02000000000000000000" pitchFamily="2" charset="0"/>
              <a:cs typeface="Roboto Medium" panose="02000000000000000000" pitchFamily="2" charset="0"/>
            </a:endParaRPr>
          </a:p>
          <a:p>
            <a:pPr marL="76200" indent="0">
              <a:buNone/>
            </a:pPr>
            <a:r>
              <a:rPr lang="en-US" sz="2000" b="1" dirty="0">
                <a:latin typeface="Roboto Medium" panose="02000000000000000000" pitchFamily="2" charset="0"/>
                <a:ea typeface="Roboto Medium" panose="02000000000000000000" pitchFamily="2" charset="0"/>
                <a:cs typeface="Roboto Medium" panose="02000000000000000000" pitchFamily="2" charset="0"/>
              </a:rPr>
              <a:t>5. Medical Guidance &amp; History</a:t>
            </a:r>
          </a:p>
          <a:p>
            <a:pPr marL="76200" indent="0">
              <a:buNone/>
            </a:pPr>
            <a:endParaRPr lang="en-US" sz="2000" b="1" dirty="0">
              <a:latin typeface="Roboto Medium" panose="02000000000000000000" pitchFamily="2" charset="0"/>
              <a:ea typeface="Roboto Medium" panose="02000000000000000000" pitchFamily="2" charset="0"/>
              <a:cs typeface="Roboto Medium" panose="02000000000000000000" pitchFamily="2" charset="0"/>
            </a:endParaRPr>
          </a:p>
          <a:p>
            <a:pPr>
              <a:buFont typeface="Arial" panose="020B0604020202020204" pitchFamily="34" charset="0"/>
              <a:buChar char="•"/>
            </a:pPr>
            <a:r>
              <a:rPr lang="en-US" sz="2000" b="1" dirty="0">
                <a:latin typeface="Roboto Medium" panose="02000000000000000000" pitchFamily="2" charset="0"/>
                <a:ea typeface="Roboto Medium" panose="02000000000000000000" pitchFamily="2" charset="0"/>
                <a:cs typeface="Roboto Medium" panose="02000000000000000000" pitchFamily="2" charset="0"/>
              </a:rPr>
              <a:t>Input:</a:t>
            </a:r>
            <a:r>
              <a:rPr lang="en-US" sz="2000" dirty="0">
                <a:latin typeface="Roboto Medium" panose="02000000000000000000" pitchFamily="2" charset="0"/>
                <a:ea typeface="Roboto Medium" panose="02000000000000000000" pitchFamily="2" charset="0"/>
                <a:cs typeface="Roboto Medium" panose="02000000000000000000" pitchFamily="2" charset="0"/>
              </a:rPr>
              <a:t> User medical data / previous reports </a:t>
            </a:r>
          </a:p>
          <a:p>
            <a:pPr>
              <a:buFont typeface="Arial" panose="020B0604020202020204" pitchFamily="34" charset="0"/>
              <a:buChar char="•"/>
            </a:pPr>
            <a:r>
              <a:rPr lang="en-US" sz="2000" b="1" dirty="0">
                <a:latin typeface="Roboto Medium" panose="02000000000000000000" pitchFamily="2" charset="0"/>
                <a:ea typeface="Roboto Medium" panose="02000000000000000000" pitchFamily="2" charset="0"/>
                <a:cs typeface="Roboto Medium" panose="02000000000000000000" pitchFamily="2" charset="0"/>
              </a:rPr>
              <a:t>Output:</a:t>
            </a:r>
            <a:r>
              <a:rPr lang="en-US" sz="2000" dirty="0">
                <a:latin typeface="Roboto Medium" panose="02000000000000000000" pitchFamily="2" charset="0"/>
                <a:ea typeface="Roboto Medium" panose="02000000000000000000" pitchFamily="2" charset="0"/>
                <a:cs typeface="Roboto Medium" panose="02000000000000000000" pitchFamily="2" charset="0"/>
              </a:rPr>
              <a:t> Stored history + guidance on next steps</a:t>
            </a:r>
          </a:p>
          <a:p>
            <a:endParaRPr lang="en-US" dirty="0"/>
          </a:p>
        </p:txBody>
      </p:sp>
    </p:spTree>
    <p:extLst>
      <p:ext uri="{BB962C8B-B14F-4D97-AF65-F5344CB8AC3E}">
        <p14:creationId xmlns:p14="http://schemas.microsoft.com/office/powerpoint/2010/main" val="12987486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E1081-ED83-5A03-3AF1-E77B4D789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26EBF3-B90A-D780-71A8-0F6F74206D5D}"/>
              </a:ext>
            </a:extLst>
          </p:cNvPr>
          <p:cNvSpPr>
            <a:spLocks noGrp="1"/>
          </p:cNvSpPr>
          <p:nvPr>
            <p:ph type="title"/>
          </p:nvPr>
        </p:nvSpPr>
        <p:spPr>
          <a:xfrm>
            <a:off x="472440" y="414525"/>
            <a:ext cx="8250480" cy="838202"/>
          </a:xfrm>
        </p:spPr>
        <p:txBody>
          <a:bodyPr/>
          <a:lstStyle/>
          <a:p>
            <a:r>
              <a:rPr lang="en-US" dirty="0">
                <a:ea typeface="Calibri"/>
                <a:cs typeface="Calibri"/>
              </a:rPr>
              <a:t> </a:t>
            </a:r>
            <a:r>
              <a:rPr lang="en-US" sz="3200" dirty="0">
                <a:solidFill>
                  <a:schemeClr val="tx1"/>
                </a:solidFill>
                <a:ea typeface="Calibri"/>
                <a:cs typeface="Calibri"/>
              </a:rPr>
              <a:t>Proof of Concept (PoC) / Prototype Demo</a:t>
            </a:r>
            <a:br>
              <a:rPr lang="en-US" dirty="0">
                <a:solidFill>
                  <a:schemeClr val="tx1"/>
                </a:solidFill>
                <a:ea typeface="Calibri"/>
                <a:cs typeface="Calibri"/>
              </a:rPr>
            </a:br>
            <a:br>
              <a:rPr lang="en-US" sz="2000" dirty="0">
                <a:solidFill>
                  <a:schemeClr val="tx1"/>
                </a:solidFill>
                <a:ea typeface="Calibri"/>
                <a:cs typeface="Calibri"/>
              </a:rPr>
            </a:br>
            <a:r>
              <a:rPr lang="en-US" sz="2000" dirty="0">
                <a:solidFill>
                  <a:schemeClr val="tx1"/>
                </a:solidFill>
                <a:ea typeface="Calibri"/>
                <a:cs typeface="Calibri"/>
              </a:rPr>
              <a:t>Ayu Sutra Prototype demo</a:t>
            </a:r>
            <a:endParaRPr lang="en-US" sz="2000" dirty="0">
              <a:solidFill>
                <a:schemeClr val="tx1"/>
              </a:solidFill>
            </a:endParaRPr>
          </a:p>
        </p:txBody>
      </p:sp>
      <p:sp>
        <p:nvSpPr>
          <p:cNvPr id="3" name="Content Placeholder 2">
            <a:extLst>
              <a:ext uri="{FF2B5EF4-FFF2-40B4-BE49-F238E27FC236}">
                <a16:creationId xmlns:a16="http://schemas.microsoft.com/office/drawing/2014/main" id="{56B1E6CD-28A4-0547-FCFA-8E8B38A76F9D}"/>
              </a:ext>
            </a:extLst>
          </p:cNvPr>
          <p:cNvSpPr>
            <a:spLocks noGrp="1"/>
          </p:cNvSpPr>
          <p:nvPr>
            <p:ph type="body" idx="1"/>
          </p:nvPr>
        </p:nvSpPr>
        <p:spPr>
          <a:xfrm>
            <a:off x="695400" y="1773936"/>
            <a:ext cx="10801201" cy="2935850"/>
          </a:xfrm>
        </p:spPr>
        <p:txBody>
          <a:bodyPr spcFirstLastPara="1" vert="horz" wrap="square" lIns="121920" tIns="60960" rIns="121920" bIns="60960" rtlCol="0" anchor="t" anchorCtr="0">
            <a:normAutofit/>
          </a:bodyPr>
          <a:lstStyle/>
          <a:p>
            <a:pPr marL="0" indent="0">
              <a:spcBef>
                <a:spcPts val="27"/>
              </a:spcBef>
              <a:buNone/>
            </a:pPr>
            <a:endParaRPr lang="en-US" dirty="0"/>
          </a:p>
          <a:p>
            <a:pPr marL="0" indent="0">
              <a:spcBef>
                <a:spcPts val="27"/>
              </a:spcBef>
              <a:buNone/>
            </a:pPr>
            <a:endParaRPr lang="en-US" dirty="0"/>
          </a:p>
        </p:txBody>
      </p:sp>
      <p:pic>
        <p:nvPicPr>
          <p:cNvPr id="5" name="Picture 4">
            <a:extLst>
              <a:ext uri="{FF2B5EF4-FFF2-40B4-BE49-F238E27FC236}">
                <a16:creationId xmlns:a16="http://schemas.microsoft.com/office/drawing/2014/main" id="{FD88AC6B-5499-3AF3-EAE3-0FC81F1F4F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 y="1569720"/>
            <a:ext cx="10378440" cy="3429000"/>
          </a:xfrm>
          <a:prstGeom prst="rect">
            <a:avLst/>
          </a:prstGeom>
        </p:spPr>
      </p:pic>
      <p:sp>
        <p:nvSpPr>
          <p:cNvPr id="7" name="TextBox 6">
            <a:extLst>
              <a:ext uri="{FF2B5EF4-FFF2-40B4-BE49-F238E27FC236}">
                <a16:creationId xmlns:a16="http://schemas.microsoft.com/office/drawing/2014/main" id="{22F3D919-D939-3951-75EC-81F9BAB96A02}"/>
              </a:ext>
            </a:extLst>
          </p:cNvPr>
          <p:cNvSpPr txBox="1"/>
          <p:nvPr/>
        </p:nvSpPr>
        <p:spPr>
          <a:xfrm>
            <a:off x="1450620" y="5029200"/>
            <a:ext cx="6294120" cy="923330"/>
          </a:xfrm>
          <a:prstGeom prst="rect">
            <a:avLst/>
          </a:prstGeom>
          <a:noFill/>
        </p:spPr>
        <p:txBody>
          <a:bodyPr wrap="square" rtlCol="0">
            <a:spAutoFit/>
          </a:bodyPr>
          <a:lstStyle/>
          <a:p>
            <a:r>
              <a:rPr lang="en-US" dirty="0">
                <a:hlinkClick r:id="rId4"/>
              </a:rPr>
              <a:t>Demo Link:</a:t>
            </a:r>
          </a:p>
          <a:p>
            <a:r>
              <a:rPr lang="en-US" dirty="0">
                <a:hlinkClick r:id="rId4"/>
              </a:rPr>
              <a:t>https://drive.google.com/file/d/1lHmNaw0wxxtn8JQcVMCPQRw4NCW-tlWL/view?usp=sharing</a:t>
            </a:r>
            <a:endParaRPr lang="en-US" dirty="0"/>
          </a:p>
        </p:txBody>
      </p:sp>
    </p:spTree>
    <p:extLst>
      <p:ext uri="{BB962C8B-B14F-4D97-AF65-F5344CB8AC3E}">
        <p14:creationId xmlns:p14="http://schemas.microsoft.com/office/powerpoint/2010/main" val="26563127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9E22D-4E0F-62D1-8074-E36D1539A726}"/>
              </a:ext>
            </a:extLst>
          </p:cNvPr>
          <p:cNvSpPr>
            <a:spLocks noGrp="1"/>
          </p:cNvSpPr>
          <p:nvPr>
            <p:ph type="title"/>
          </p:nvPr>
        </p:nvSpPr>
        <p:spPr>
          <a:xfrm>
            <a:off x="3291840" y="2331266"/>
            <a:ext cx="6900723" cy="1646374"/>
          </a:xfrm>
        </p:spPr>
        <p:txBody>
          <a:bodyPr/>
          <a:lstStyle/>
          <a:p>
            <a:r>
              <a:rPr lang="en-US" sz="6000" dirty="0">
                <a:solidFill>
                  <a:schemeClr val="tx1"/>
                </a:solidFill>
              </a:rPr>
              <a:t>THANK YOU</a:t>
            </a:r>
          </a:p>
        </p:txBody>
      </p:sp>
    </p:spTree>
    <p:extLst>
      <p:ext uri="{BB962C8B-B14F-4D97-AF65-F5344CB8AC3E}">
        <p14:creationId xmlns:p14="http://schemas.microsoft.com/office/powerpoint/2010/main" val="56164855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2551</TotalTime>
  <Words>1031</Words>
  <Application>Microsoft Office PowerPoint</Application>
  <PresentationFormat>Widescreen</PresentationFormat>
  <Paragraphs>147</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Calibri</vt:lpstr>
      <vt:lpstr>Roboto Medium</vt:lpstr>
      <vt:lpstr>Times New Roman</vt:lpstr>
      <vt:lpstr>Wingdings</vt:lpstr>
      <vt:lpstr>1_Office Theme</vt:lpstr>
      <vt:lpstr>PowerPoint Presentation</vt:lpstr>
      <vt:lpstr>Team members &amp; roles</vt:lpstr>
      <vt:lpstr>Problem Statement</vt:lpstr>
      <vt:lpstr> User/ Customer Understanding</vt:lpstr>
      <vt:lpstr>Ideal Customer Profile (ICP)</vt:lpstr>
      <vt:lpstr>Customer Persona (CP)</vt:lpstr>
      <vt:lpstr>Customer Persona (CP)</vt:lpstr>
      <vt:lpstr> Product USP</vt:lpstr>
      <vt:lpstr> Use Cases &amp; High level Requirements</vt:lpstr>
      <vt:lpstr> Proof of Concept (PoC) / Prototype Demo  Ayu Sutra Prototype demo</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Ramaraj Sri</dc:creator>
  <cp:lastModifiedBy>shruthianamoni@gmail.com</cp:lastModifiedBy>
  <cp:revision>4</cp:revision>
  <dcterms:created xsi:type="dcterms:W3CDTF">2025-09-17T04:00:39Z</dcterms:created>
  <dcterms:modified xsi:type="dcterms:W3CDTF">2026-03-25T18:34:30Z</dcterms:modified>
</cp:coreProperties>
</file>